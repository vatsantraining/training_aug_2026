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35"/>
  </p:notesMasterIdLst>
  <p:sldIdLst>
    <p:sldId id="2558" r:id="rId2"/>
    <p:sldId id="2559" r:id="rId3"/>
    <p:sldId id="2560" r:id="rId4"/>
    <p:sldId id="2585" r:id="rId5"/>
    <p:sldId id="2589" r:id="rId6"/>
    <p:sldId id="2590" r:id="rId7"/>
    <p:sldId id="2588" r:id="rId8"/>
    <p:sldId id="2591" r:id="rId9"/>
    <p:sldId id="2554" r:id="rId10"/>
    <p:sldId id="2602" r:id="rId11"/>
    <p:sldId id="2608" r:id="rId12"/>
    <p:sldId id="2600" r:id="rId13"/>
    <p:sldId id="2607" r:id="rId14"/>
    <p:sldId id="2601" r:id="rId15"/>
    <p:sldId id="2609" r:id="rId16"/>
    <p:sldId id="2603" r:id="rId17"/>
    <p:sldId id="1938" r:id="rId18"/>
    <p:sldId id="2592" r:id="rId19"/>
    <p:sldId id="2599" r:id="rId20"/>
    <p:sldId id="2598" r:id="rId21"/>
    <p:sldId id="2604" r:id="rId22"/>
    <p:sldId id="2605" r:id="rId23"/>
    <p:sldId id="1832" r:id="rId24"/>
    <p:sldId id="1833" r:id="rId25"/>
    <p:sldId id="1834" r:id="rId26"/>
    <p:sldId id="1835" r:id="rId27"/>
    <p:sldId id="1836" r:id="rId28"/>
    <p:sldId id="1997" r:id="rId29"/>
    <p:sldId id="2392" r:id="rId30"/>
    <p:sldId id="1998" r:id="rId31"/>
    <p:sldId id="2249" r:id="rId32"/>
    <p:sldId id="2247" r:id="rId33"/>
    <p:sldId id="2361" r:id="rId34"/>
  </p:sldIdLst>
  <p:sldSz cx="9144000" cy="6858000" type="screen4x3"/>
  <p:notesSz cx="6858000" cy="9144000"/>
  <p:custShowLst>
    <p:custShow name="Sapient" id="0">
      <p:sldLst/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133" autoAdjust="0"/>
    <p:restoredTop sz="96764" autoAdjust="0"/>
  </p:normalViewPr>
  <p:slideViewPr>
    <p:cSldViewPr>
      <p:cViewPr varScale="1">
        <p:scale>
          <a:sx n="127" d="100"/>
          <a:sy n="127" d="100"/>
        </p:scale>
        <p:origin x="62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4116"/>
    </p:cViewPr>
  </p:sorterViewPr>
  <p:notesViewPr>
    <p:cSldViewPr>
      <p:cViewPr varScale="1">
        <p:scale>
          <a:sx n="68" d="100"/>
          <a:sy n="68" d="100"/>
        </p:scale>
        <p:origin x="3680" y="20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20BAB2B2-D108-8409-CB94-88F66706DA5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7B0261A1-6558-2626-F044-20BCDBB3581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B71DDB3D-437C-42A7-6117-6910248D8FD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89" name="Rectangle 5">
            <a:extLst>
              <a:ext uri="{FF2B5EF4-FFF2-40B4-BE49-F238E27FC236}">
                <a16:creationId xmlns:a16="http://schemas.microsoft.com/office/drawing/2014/main" id="{A7273FC9-F86D-722E-9AB5-9CB24BCEE55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990" name="Rectangle 6">
            <a:extLst>
              <a:ext uri="{FF2B5EF4-FFF2-40B4-BE49-F238E27FC236}">
                <a16:creationId xmlns:a16="http://schemas.microsoft.com/office/drawing/2014/main" id="{CD6032A2-ECD4-19FA-0C20-0E17E64BFF1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91" name="Rectangle 7">
            <a:extLst>
              <a:ext uri="{FF2B5EF4-FFF2-40B4-BE49-F238E27FC236}">
                <a16:creationId xmlns:a16="http://schemas.microsoft.com/office/drawing/2014/main" id="{E41B11B4-5A64-CBE3-4C2C-4A6C754DF4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A8A2EA4-582F-8844-84D7-5760F28092C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A8A2EA4-582F-8844-84D7-5760F28092C8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2087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Slide Image Placeholder 1">
            <a:extLst>
              <a:ext uri="{FF2B5EF4-FFF2-40B4-BE49-F238E27FC236}">
                <a16:creationId xmlns:a16="http://schemas.microsoft.com/office/drawing/2014/main" id="{BF16310D-2F13-65C8-1C79-5A1B9B6E59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6" name="Notes Placeholder 2">
            <a:extLst>
              <a:ext uri="{FF2B5EF4-FFF2-40B4-BE49-F238E27FC236}">
                <a16:creationId xmlns:a16="http://schemas.microsoft.com/office/drawing/2014/main" id="{4E151D88-C2DE-5BE4-808C-30C5BF46D2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/>
          </a:p>
        </p:txBody>
      </p:sp>
      <p:sp>
        <p:nvSpPr>
          <p:cNvPr id="103427" name="Slide Number Placeholder 3">
            <a:extLst>
              <a:ext uri="{FF2B5EF4-FFF2-40B4-BE49-F238E27FC236}">
                <a16:creationId xmlns:a16="http://schemas.microsoft.com/office/drawing/2014/main" id="{239A5059-4B06-E763-915A-080EB7875F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2176C5B-4BEC-4D48-91D3-224326BD6E2E}" type="slidenum">
              <a:rPr lang="en-US" altLang="en-US" smtClean="0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66BE2BB-0558-9B80-385C-777C5C885D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80AAEE4-D6BD-594D-8A42-F70E9DC231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7992265-354E-DEFC-67B3-A253590409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027062-A797-0E42-99D3-80A34C162F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5271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EF8AD8E-6F42-99E8-311E-E96B6B7A71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501DB98-0E05-447D-445D-D86B2D4B38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ADCEC9-FDFA-175F-3881-66985C0D5C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7BB100-DF3C-454D-BF2F-43E7FB1AA4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9137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CABAC00-D6DB-FC4B-0D68-6523E6689A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EFFE15D-75B0-20C2-A42C-342E447C4A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78DAB82-440B-52BE-E1E1-5F03E0507C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344B87-694D-5143-B5C7-A73026C7B7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2003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66800"/>
            <a:ext cx="4038600" cy="5059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038600" cy="5059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CB9245-81E7-7238-53F2-599295E9FE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6B8C6B-4BF5-B05E-2D1A-774C603F5A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F878C4-F9E3-A413-16EC-0C7419F488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63CEED-6766-FC4A-A77F-5DC702103C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5030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212F816-9A73-4EF6-446A-D2CBEA5382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C70195A-7302-4709-D311-7E8D87368E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FB5AE12-C0EB-534C-22D9-EF1C9AADC5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460C2E-2FA7-474B-A8AC-E8B7FFDCCE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8249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8F9DD25-ED3A-95E9-1835-88D54FBAF2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CA2E61E-4B28-812D-C380-B77CBDFD3E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ACC997F-2DCC-BCBA-16C4-B82578343F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7A605F-F03E-FD46-832D-DD7C80CA81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4303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2F06FB4-1467-A582-2272-F51A003DEA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DB0B634-64E5-0FE7-D979-0252C1C1E9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82FCA8A-A9C6-6D0C-1B84-1A2964C7E3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F8E442-3160-3644-A6D6-545BCE25D4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4750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B2C5F5-13CB-61EE-D52A-245B385CF1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1C0AE0-6315-D28F-675F-0D9DA49873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7E95A8-748A-EEED-A60F-C636CD7495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F4C71D-B800-2846-92C3-96F88E12E4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9758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9CE46E-4EEB-B10F-4477-8095CCD625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7FFB2D-E4CD-4849-6180-BD9168D576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E42599-2413-A064-6252-F02C06FF88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8D372A-6EB9-7E45-B693-828A0115F5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4055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38C4CC5-2271-8485-5FC3-864BCEC6BD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B90F024-8354-9E9C-2533-79A38AA077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5A8B27-1A5E-E623-0B20-EF6672D933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8713B6-0EAE-AE4D-8FAD-E9C799FA580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7417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6689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6689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32AB57F-D235-85B4-14D5-987A47BCAC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EF2E0DF-F404-0134-F5C5-00E4D49205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67FA79A-FE90-EB00-1FA5-EC744378BB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55FEA1-BFBA-E74E-8B80-1B82D8CDDB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3986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4111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066800"/>
            <a:ext cx="4038600" cy="5059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038600" cy="5059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43B27C-B121-CC52-1B74-BFEEC8B059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CE92E2-4ADC-E204-BED5-6C8F3C32F4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A21F56-25EA-C6EA-931B-1291A2501B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453271-D545-2E42-B91D-9E479ADC63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865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DB319CF-415C-D88C-21F9-CCAE4D8BAA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08422E1-638B-9343-E3DB-3DD5973881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66800"/>
            <a:ext cx="8229600" cy="505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  <p:sp>
        <p:nvSpPr>
          <p:cNvPr id="94212" name="Rectangle 4">
            <a:extLst>
              <a:ext uri="{FF2B5EF4-FFF2-40B4-BE49-F238E27FC236}">
                <a16:creationId xmlns:a16="http://schemas.microsoft.com/office/drawing/2014/main" id="{EF8AA1CC-D3C8-C4CF-EC90-C2DD59A30DA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4213" name="Rectangle 5">
            <a:extLst>
              <a:ext uri="{FF2B5EF4-FFF2-40B4-BE49-F238E27FC236}">
                <a16:creationId xmlns:a16="http://schemas.microsoft.com/office/drawing/2014/main" id="{2E1ECEE6-CAAA-4B4C-8F6A-AEE4D82AB06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4214" name="Rectangle 6">
            <a:extLst>
              <a:ext uri="{FF2B5EF4-FFF2-40B4-BE49-F238E27FC236}">
                <a16:creationId xmlns:a16="http://schemas.microsoft.com/office/drawing/2014/main" id="{946E16DC-8BF2-C37C-B236-DFB4862AF19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82DE7C99-6272-544E-ACF6-7A21E03E83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787/actuator/loggers" TargetMode="External"/><Relationship Id="rId2" Type="http://schemas.openxmlformats.org/officeDocument/2006/relationships/hyperlink" Target="http://localhost:8787/actuator/metric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localhost:8787/actuator/loggers/org.springframework.boot.SpringApplication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7070/actuator/shutdow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BD99CF-295F-5E02-E976-980BBB03A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Spring Security</a:t>
            </a:r>
          </a:p>
        </p:txBody>
      </p:sp>
      <p:sp>
        <p:nvSpPr>
          <p:cNvPr id="3075" name="Text Placeholder 4">
            <a:extLst>
              <a:ext uri="{FF2B5EF4-FFF2-40B4-BE49-F238E27FC236}">
                <a16:creationId xmlns:a16="http://schemas.microsoft.com/office/drawing/2014/main" id="{25FA6487-C1C3-2C66-E308-F8AB669E1A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92110B42-15CB-F36D-DD47-5C05B38C17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Spring Security</a:t>
            </a:r>
          </a:p>
        </p:txBody>
      </p:sp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E5DF6C44-ADB0-6FAF-A891-6EED6B1721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/>
              <a:t>Highly customizable authentication and access-control framework. 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Focuses on providing both authentication and authorization 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“</a:t>
            </a:r>
            <a:r>
              <a:rPr lang="en-US" altLang="en-US" sz="2000" b="1"/>
              <a:t>Authentication</a:t>
            </a:r>
            <a:r>
              <a:rPr lang="en-US" altLang="en-US" sz="2000"/>
              <a:t>”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The process of establishing a user, device or some other system which can perform an action in the  application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“</a:t>
            </a:r>
            <a:r>
              <a:rPr lang="en-US" altLang="en-US" sz="2000" b="1"/>
              <a:t>Authorization</a:t>
            </a:r>
            <a:r>
              <a:rPr lang="en-US" altLang="en-US" sz="2000"/>
              <a:t>”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The process of deciding whether a principal is allowed to perform an action within the application.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authorization is done after authentication process.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Once the user is authenticated they may have one or more “roles” </a:t>
            </a:r>
          </a:p>
          <a:p>
            <a:pPr lvl="1">
              <a:lnSpc>
                <a:spcPct val="150000"/>
              </a:lnSpc>
            </a:pPr>
            <a:endParaRPr lang="en-US" alt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DCF1DDCD-2832-303F-8F26-9BE6D83E79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Authentication &amp; Authorization</a:t>
            </a:r>
            <a:endParaRPr lang="en-IN" altLang="en-US"/>
          </a:p>
        </p:txBody>
      </p:sp>
      <p:pic>
        <p:nvPicPr>
          <p:cNvPr id="5123" name="Content Placeholder 4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228E34D6-FB6B-0EE7-26D8-A8CB992F6DF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143000"/>
            <a:ext cx="8229600" cy="5029200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B5A321F-B866-6571-A75B-C11CA1D2A2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Add Spring Security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3581F-03AC-8AC2-F5E1-3B33FEC70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200000"/>
              </a:lnSpc>
              <a:defRPr/>
            </a:pPr>
            <a:r>
              <a:rPr lang="en-IN" sz="1800" dirty="0"/>
              <a:t>Update the pom.xml file with the following entry, can also add spring security while use starter project.</a:t>
            </a:r>
          </a:p>
          <a:p>
            <a:pPr marL="457200" lvl="1" indent="0">
              <a:lnSpc>
                <a:spcPct val="200000"/>
              </a:lnSpc>
              <a:buFontTx/>
              <a:buNone/>
              <a:defRPr/>
            </a:pPr>
            <a:endParaRPr lang="en-IN" sz="1800" dirty="0"/>
          </a:p>
          <a:p>
            <a:pPr marL="457200" lvl="1" indent="0">
              <a:lnSpc>
                <a:spcPct val="200000"/>
              </a:lnSpc>
              <a:buFontTx/>
              <a:buNone/>
              <a:defRPr/>
            </a:pPr>
            <a:r>
              <a:rPr lang="en-IN" sz="1800" dirty="0"/>
              <a:t>&lt;dependency&gt;</a:t>
            </a:r>
          </a:p>
          <a:p>
            <a:pPr marL="457200" lvl="1" indent="0">
              <a:lnSpc>
                <a:spcPct val="200000"/>
              </a:lnSpc>
              <a:buFontTx/>
              <a:buNone/>
              <a:defRPr/>
            </a:pPr>
            <a:r>
              <a:rPr lang="en-IN" sz="1800" dirty="0"/>
              <a:t> &lt;</a:t>
            </a:r>
            <a:r>
              <a:rPr lang="en-IN" sz="1800" dirty="0" err="1"/>
              <a:t>groupId</a:t>
            </a:r>
            <a:r>
              <a:rPr lang="en-IN" sz="1800" dirty="0"/>
              <a:t>&gt;</a:t>
            </a:r>
            <a:r>
              <a:rPr lang="en-IN" sz="1800" dirty="0" err="1"/>
              <a:t>org.springframework.boot</a:t>
            </a:r>
            <a:r>
              <a:rPr lang="en-IN" sz="1800" dirty="0"/>
              <a:t>&lt;/</a:t>
            </a:r>
            <a:r>
              <a:rPr lang="en-IN" sz="1800" dirty="0" err="1"/>
              <a:t>groupId</a:t>
            </a:r>
            <a:r>
              <a:rPr lang="en-IN" sz="1800" dirty="0"/>
              <a:t>&gt;</a:t>
            </a:r>
          </a:p>
          <a:p>
            <a:pPr marL="457200" lvl="1" indent="0">
              <a:lnSpc>
                <a:spcPct val="200000"/>
              </a:lnSpc>
              <a:buFontTx/>
              <a:buNone/>
              <a:defRPr/>
            </a:pPr>
            <a:r>
              <a:rPr lang="en-IN" sz="1800" dirty="0"/>
              <a:t> &lt;</a:t>
            </a:r>
            <a:r>
              <a:rPr lang="en-IN" sz="1800" dirty="0" err="1"/>
              <a:t>artifactId</a:t>
            </a:r>
            <a:r>
              <a:rPr lang="en-IN" sz="1800" dirty="0"/>
              <a:t>&gt;spring-boot-starter-security&lt;/</a:t>
            </a:r>
            <a:r>
              <a:rPr lang="en-IN" sz="1800" dirty="0" err="1"/>
              <a:t>artifactId</a:t>
            </a:r>
            <a:r>
              <a:rPr lang="en-IN" sz="1800" dirty="0"/>
              <a:t>&gt;</a:t>
            </a:r>
          </a:p>
          <a:p>
            <a:pPr marL="457200" lvl="1" indent="0">
              <a:lnSpc>
                <a:spcPct val="200000"/>
              </a:lnSpc>
              <a:buFontTx/>
              <a:buNone/>
              <a:defRPr/>
            </a:pPr>
            <a:r>
              <a:rPr lang="en-IN" sz="1800" dirty="0"/>
              <a:t>&lt;/dependency&gt;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5D90C102-571B-C3CE-60C7-2D85BC7444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Spring Security Architecture</a:t>
            </a:r>
          </a:p>
        </p:txBody>
      </p:sp>
      <p:pic>
        <p:nvPicPr>
          <p:cNvPr id="7171" name="Picture 2">
            <a:extLst>
              <a:ext uri="{FF2B5EF4-FFF2-40B4-BE49-F238E27FC236}">
                <a16:creationId xmlns:a16="http://schemas.microsoft.com/office/drawing/2014/main" id="{5EAF4272-1DBA-EC61-A35E-4726502A7B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71575" y="1066800"/>
            <a:ext cx="6800850" cy="5059363"/>
          </a:xfr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511AE8C7-587D-41DC-3C60-CBEF6E72DC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Spring Security Architecture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299C467B-5395-5BD4-FD81-EE1AE78A53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/>
              <a:t>DelegatingFilterProxy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Servlet filter embedded in the spring context.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It delegates the incoming request to a bunch of filters </a:t>
            </a:r>
          </a:p>
          <a:p>
            <a:r>
              <a:rPr lang="en-US" altLang="en-US" sz="2000" b="1"/>
              <a:t>FilterChainProxy </a:t>
            </a:r>
          </a:p>
          <a:p>
            <a:pPr lvl="1"/>
            <a:r>
              <a:rPr lang="en-US" altLang="en-US" sz="2000"/>
              <a:t>A servlet filter which invokes the relevant filters that would work on the incoming request. </a:t>
            </a:r>
          </a:p>
          <a:p>
            <a:r>
              <a:rPr lang="en-US" altLang="en-US" sz="2000" b="1"/>
              <a:t>SecurityFilters</a:t>
            </a:r>
          </a:p>
          <a:p>
            <a:pPr lvl="1"/>
            <a:r>
              <a:rPr lang="en-US" altLang="en-US" sz="2000"/>
              <a:t>Contains a list of filters that need to be invoked before the controller can handle the request. </a:t>
            </a:r>
          </a:p>
          <a:p>
            <a:pPr lvl="1"/>
            <a:r>
              <a:rPr lang="en-US" altLang="en-US" sz="2000"/>
              <a:t>SecurityContextPersistenceFilter, HeaderWriterFilter, CsrfFilter, LogoutFilter, UsernamePasswordAuthenticationFilter etc. </a:t>
            </a:r>
          </a:p>
          <a:p>
            <a:pPr lvl="1"/>
            <a:r>
              <a:rPr lang="en-US" altLang="en-US" sz="2000"/>
              <a:t>FilterChainProxy queries this class to invoke each filter in a loop.</a:t>
            </a:r>
          </a:p>
          <a:p>
            <a:endParaRPr lang="en-US" altLang="en-US" sz="2000"/>
          </a:p>
          <a:p>
            <a:endParaRPr lang="en-IN" altLang="en-US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AF516FFE-E41B-1A84-2B45-6EF1941B35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228600"/>
          </a:xfrm>
        </p:spPr>
        <p:txBody>
          <a:bodyPr/>
          <a:lstStyle/>
          <a:p>
            <a:r>
              <a:rPr lang="en-IN" altLang="en-US"/>
              <a:t>Authorizations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795FD7B7-607B-37E6-1E58-9A1203C8B1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 b="1"/>
              <a:t>permitAll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No need of any authorization to access current page.</a:t>
            </a:r>
          </a:p>
          <a:p>
            <a:pPr>
              <a:lnSpc>
                <a:spcPct val="150000"/>
              </a:lnSpc>
            </a:pPr>
            <a:r>
              <a:rPr lang="en-US" altLang="en-US" sz="2000" b="1"/>
              <a:t>authenticated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Requires  Login(username/password) and no authorization(role based access) is required.</a:t>
            </a:r>
          </a:p>
          <a:p>
            <a:pPr>
              <a:lnSpc>
                <a:spcPct val="150000"/>
              </a:lnSpc>
            </a:pPr>
            <a:r>
              <a:rPr lang="en-US" altLang="en-US" sz="2000" b="1"/>
              <a:t>hasAuthority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Requires that user should have both authentication and role based authorization access.</a:t>
            </a:r>
          </a:p>
          <a:p>
            <a:pPr>
              <a:lnSpc>
                <a:spcPct val="150000"/>
              </a:lnSpc>
            </a:pPr>
            <a:r>
              <a:rPr lang="en-US" altLang="en-US" sz="2000" b="1"/>
              <a:t>hasAnyAuthority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It represents that user should have authentication and multiple role based authorization access. </a:t>
            </a:r>
          </a:p>
          <a:p>
            <a:endParaRPr lang="en-US" altLang="en-US" sz="2000"/>
          </a:p>
          <a:p>
            <a:endParaRPr lang="en-IN" altLang="en-US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242FB600-ADCE-0CC7-45F0-874B28018F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>
                <a:solidFill>
                  <a:srgbClr val="000000"/>
                </a:solidFill>
              </a:rPr>
              <a:t>BCryptPasswordEncoder</a:t>
            </a:r>
            <a:endParaRPr lang="en-IN" altLang="en-US"/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CA2A6307-ABA1-D309-A6F6-D40AF45165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altLang="en-US" sz="2000"/>
              <a:t>An encryption class of Spring Security.</a:t>
            </a:r>
          </a:p>
          <a:p>
            <a:pPr>
              <a:lnSpc>
                <a:spcPct val="150000"/>
              </a:lnSpc>
            </a:pPr>
            <a:r>
              <a:rPr lang="en-IN" altLang="en-US" sz="2000"/>
              <a:t>Spring provides a variety of encryption methods for passwords. </a:t>
            </a:r>
          </a:p>
          <a:p>
            <a:pPr>
              <a:lnSpc>
                <a:spcPct val="150000"/>
              </a:lnSpc>
            </a:pPr>
            <a:r>
              <a:rPr lang="en-IN" altLang="en-US" sz="2000"/>
              <a:t>The official recommendation is to use BCryptPasswordEncoder, which uses the BCrypt strong hash function.</a:t>
            </a:r>
          </a:p>
          <a:p>
            <a:endParaRPr lang="en-IN" altLang="en-US" sz="2000"/>
          </a:p>
          <a:p>
            <a:pPr marL="457200" lvl="1" indent="0">
              <a:buFontTx/>
              <a:buNone/>
            </a:pPr>
            <a:r>
              <a:rPr lang="en-IN" altLang="en-US" sz="2000"/>
              <a:t>@Bean</a:t>
            </a:r>
          </a:p>
          <a:p>
            <a:pPr marL="457200" lvl="1" indent="0">
              <a:buFontTx/>
              <a:buNone/>
            </a:pPr>
            <a:r>
              <a:rPr lang="en-IN" altLang="en-US" sz="2000"/>
              <a:t>    PasswordEncoder passwordEncoder() {</a:t>
            </a:r>
          </a:p>
          <a:p>
            <a:pPr marL="457200" lvl="1" indent="0">
              <a:buFontTx/>
              <a:buNone/>
            </a:pPr>
            <a:r>
              <a:rPr lang="en-IN" altLang="en-US" sz="2000"/>
              <a:t>        return new BCryptPasswordEncoder();</a:t>
            </a:r>
          </a:p>
          <a:p>
            <a:pPr marL="457200" lvl="1" indent="0">
              <a:buFontTx/>
              <a:buNone/>
            </a:pPr>
            <a:r>
              <a:rPr lang="en-IN" altLang="en-US" sz="2000"/>
              <a:t>    }</a:t>
            </a:r>
          </a:p>
          <a:p>
            <a:endParaRPr lang="en-IN" altLang="en-US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D4656E04-5959-0431-E467-F609832A3C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HttpSecurity</a:t>
            </a:r>
            <a:r>
              <a:rPr lang="en-US" altLang="en-US"/>
              <a:t> 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13575D52-9603-7AE6-75E9-08D7EC8C7C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fontAlgn="t"/>
            <a:r>
              <a:rPr lang="en-US" altLang="en-US" sz="2000" b="1"/>
              <a:t>HttpSecurity</a:t>
            </a:r>
          </a:p>
          <a:p>
            <a:pPr lvl="1" fontAlgn="t"/>
            <a:r>
              <a:rPr lang="en-US" altLang="en-US" sz="1800"/>
              <a:t>Provides a Method authoriseRequests()</a:t>
            </a:r>
          </a:p>
          <a:p>
            <a:pPr fontAlgn="t"/>
            <a:endParaRPr lang="en-US" altLang="en-US" sz="2000" b="1"/>
          </a:p>
          <a:p>
            <a:pPr fontAlgn="t"/>
            <a:r>
              <a:rPr lang="en-US" altLang="en-US" sz="2000" b="1"/>
              <a:t>authorizeRequests()</a:t>
            </a:r>
            <a:endParaRPr lang="en-US" altLang="en-US" sz="2000"/>
          </a:p>
          <a:p>
            <a:pPr lvl="1">
              <a:lnSpc>
                <a:spcPct val="150000"/>
              </a:lnSpc>
            </a:pPr>
            <a:r>
              <a:rPr lang="en-US" altLang="en-US" sz="2000"/>
              <a:t>To Define custom requirements for URLs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Can add multiple children to this  method.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The matchers are considered in the order they were declared.</a:t>
            </a:r>
          </a:p>
          <a:p>
            <a:pPr lvl="1">
              <a:buFont typeface="Times New Roman" panose="02020603050405020304" pitchFamily="18" charset="0"/>
              <a:buNone/>
            </a:pPr>
            <a:endParaRPr lang="en-US" altLang="en-US" sz="2000"/>
          </a:p>
          <a:p>
            <a:pPr lvl="1">
              <a:buFont typeface="Times New Roman" panose="02020603050405020304" pitchFamily="18" charset="0"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    http.authorizeRequests()</a:t>
            </a:r>
          </a:p>
          <a:p>
            <a:pPr lvl="1">
              <a:buFont typeface="Times New Roman" panose="02020603050405020304" pitchFamily="18" charset="0"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      .anyRequest().authenticated()</a:t>
            </a:r>
          </a:p>
          <a:p>
            <a:pPr lvl="1">
              <a:buFont typeface="Times New Roman" panose="02020603050405020304" pitchFamily="18" charset="0"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      .and().httpBasic();</a:t>
            </a:r>
          </a:p>
          <a:p>
            <a:pPr lvl="1">
              <a:buFont typeface="Times New Roman" panose="02020603050405020304" pitchFamily="18" charset="0"/>
              <a:buNone/>
            </a:pPr>
            <a:endParaRPr lang="en-US" altLang="en-US" sz="2000" b="1"/>
          </a:p>
          <a:p>
            <a:pPr lvl="1">
              <a:buFont typeface="Times New Roman" panose="02020603050405020304" pitchFamily="18" charset="0"/>
              <a:buNone/>
            </a:pPr>
            <a:endParaRPr lang="en-US" altLang="en-US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62633-1C68-9885-C9B4-790A4D7CD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563563"/>
          </a:xfrm>
        </p:spPr>
        <p:txBody>
          <a:bodyPr/>
          <a:lstStyle/>
          <a:p>
            <a:r>
              <a:rPr lang="en-US" dirty="0"/>
              <a:t>Security Filter 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3A06C-4CE0-B9A0-504C-AF2EB57EB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68364"/>
            <a:ext cx="8229600" cy="5257800"/>
          </a:xfrm>
        </p:spPr>
        <p:txBody>
          <a:bodyPr/>
          <a:lstStyle/>
          <a:p>
            <a:pPr lvl="1" indent="-342900"/>
            <a:r>
              <a:rPr lang="en-IN" sz="2000" dirty="0"/>
              <a:t>Takes an </a:t>
            </a:r>
            <a:r>
              <a:rPr lang="en-IN" sz="2000" dirty="0" err="1"/>
              <a:t>HttpSecurity</a:t>
            </a:r>
            <a:r>
              <a:rPr lang="en-IN" sz="2000" dirty="0"/>
              <a:t> object as an argument. </a:t>
            </a:r>
          </a:p>
          <a:p>
            <a:pPr lvl="1" indent="-342900"/>
            <a:r>
              <a:rPr lang="en-IN" sz="2000" dirty="0"/>
              <a:t>Uses builder pattern  to </a:t>
            </a:r>
            <a:r>
              <a:rPr lang="en-IN" sz="2000" dirty="0" err="1"/>
              <a:t>onfigure</a:t>
            </a:r>
            <a:r>
              <a:rPr lang="en-IN" sz="2000" dirty="0"/>
              <a:t> HTTP security.</a:t>
            </a:r>
          </a:p>
          <a:p>
            <a:pPr marL="400050" lvl="1" indent="0">
              <a:buNone/>
            </a:pPr>
            <a:endParaRPr lang="en-IN" sz="2000" b="1" dirty="0"/>
          </a:p>
          <a:p>
            <a:pPr marL="400050" lvl="1" indent="0">
              <a:buNone/>
            </a:pPr>
            <a:r>
              <a:rPr lang="en-IN" sz="2000" b="1" dirty="0" err="1"/>
              <a:t>authorizeHttpRequests</a:t>
            </a:r>
            <a:r>
              <a:rPr lang="en-IN" sz="2000" b="1" dirty="0"/>
              <a:t>(): </a:t>
            </a:r>
          </a:p>
          <a:p>
            <a:pPr lvl="1" indent="-342900"/>
            <a:r>
              <a:rPr lang="en-IN" sz="2000" dirty="0"/>
              <a:t>To configure authorization rules for HTTP requests.</a:t>
            </a:r>
          </a:p>
          <a:p>
            <a:pPr marL="400050" lvl="1" indent="0">
              <a:buNone/>
            </a:pPr>
            <a:endParaRPr lang="en-IN" sz="2000" dirty="0"/>
          </a:p>
          <a:p>
            <a:pPr marL="800100" lvl="1" indent="-342900"/>
            <a:r>
              <a:rPr lang="en-IN" sz="2000" b="1" dirty="0" err="1"/>
              <a:t>requestMatchers</a:t>
            </a:r>
            <a:r>
              <a:rPr lang="en-IN" sz="2000" b="1" dirty="0"/>
              <a:t>("/public/**</a:t>
            </a:r>
            <a:r>
              <a:rPr lang="en-IN" sz="2000" dirty="0"/>
              <a:t>": ).</a:t>
            </a:r>
            <a:r>
              <a:rPr lang="en-IN" sz="2000" dirty="0" err="1"/>
              <a:t>permitAll</a:t>
            </a:r>
            <a:r>
              <a:rPr lang="en-IN" sz="2000" dirty="0"/>
              <a:t>() </a:t>
            </a:r>
          </a:p>
          <a:p>
            <a:pPr marL="1200150" lvl="2" indent="-342900"/>
            <a:r>
              <a:rPr lang="en-IN" sz="2000" dirty="0"/>
              <a:t>Specifies that any request matching the /public/** pattern</a:t>
            </a:r>
          </a:p>
          <a:p>
            <a:pPr marL="1200150" lvl="2" indent="-342900"/>
            <a:r>
              <a:rPr lang="en-IN" sz="2000" dirty="0"/>
              <a:t>Accessible without requiring authentication.</a:t>
            </a:r>
          </a:p>
          <a:p>
            <a:pPr marL="857250" lvl="2" indent="0">
              <a:buNone/>
            </a:pPr>
            <a:r>
              <a:rPr lang="en-IN" sz="2000" dirty="0"/>
              <a:t> </a:t>
            </a:r>
          </a:p>
          <a:p>
            <a:pPr marL="800100" lvl="1" indent="-342900"/>
            <a:r>
              <a:rPr lang="en-IN" sz="2000" b="1" dirty="0" err="1"/>
              <a:t>anyRequest</a:t>
            </a:r>
            <a:r>
              <a:rPr lang="en-IN" sz="2000" b="1" dirty="0"/>
              <a:t>().authenticated(): </a:t>
            </a:r>
          </a:p>
          <a:p>
            <a:pPr marL="1200150" lvl="2" indent="-342900"/>
            <a:r>
              <a:rPr lang="en-IN" sz="2000" dirty="0"/>
              <a:t>Specifies that all other requests (not matching /public/**) require authentication.</a:t>
            </a:r>
          </a:p>
          <a:p>
            <a:pPr marL="400050" lvl="1" indent="0">
              <a:buNone/>
            </a:pPr>
            <a:endParaRPr lang="en-IN" sz="2000" dirty="0"/>
          </a:p>
          <a:p>
            <a:pPr marL="400050" lvl="1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49319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3DA36-04BE-1778-C15D-7059B21F6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Customizing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C1E7C-A7F0-82B7-4BA6-B90BF3802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dirty="0"/>
              <a:t>return </a:t>
            </a:r>
            <a:r>
              <a:rPr lang="en-IN" sz="2000" b="1" dirty="0" err="1"/>
              <a:t>http.build</a:t>
            </a:r>
            <a:r>
              <a:rPr lang="en-IN" sz="2000" b="1" dirty="0"/>
              <a:t>(): </a:t>
            </a:r>
          </a:p>
          <a:p>
            <a:pPr lvl="1" indent="-342900"/>
            <a:r>
              <a:rPr lang="en-IN" sz="2000" dirty="0"/>
              <a:t>Returns the </a:t>
            </a:r>
            <a:r>
              <a:rPr lang="en-IN" sz="2000" dirty="0" err="1"/>
              <a:t>SecurityFilterChain</a:t>
            </a:r>
            <a:r>
              <a:rPr lang="en-IN" sz="2000" dirty="0"/>
              <a:t> object based on the configured HttpSecurity.</a:t>
            </a:r>
          </a:p>
          <a:p>
            <a:endParaRPr lang="en-IN" sz="2000" b="1" dirty="0"/>
          </a:p>
          <a:p>
            <a:r>
              <a:rPr lang="en-IN" sz="2000" b="1" dirty="0" err="1"/>
              <a:t>Customizer.</a:t>
            </a:r>
            <a:r>
              <a:rPr lang="en-IN" sz="2000" b="1" i="1" dirty="0" err="1"/>
              <a:t>withDefaults</a:t>
            </a:r>
            <a:r>
              <a:rPr lang="en-IN" sz="2000" b="1" dirty="0"/>
              <a:t>()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Used to access basic authentication in incoming request header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Makes spring  use the default internal configuration with </a:t>
            </a:r>
            <a:r>
              <a:rPr lang="en-IN" sz="2000" dirty="0" err="1"/>
              <a:t>BasicAuthenticationFilter</a:t>
            </a:r>
            <a:r>
              <a:rPr lang="en-IN" sz="2000" dirty="0"/>
              <a:t>  without any custom modifications.</a:t>
            </a:r>
          </a:p>
          <a:p>
            <a:pPr marL="0" indent="0">
              <a:buNone/>
            </a:pP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650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4BA75-D149-DBB7-1222-4C37D6CC2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304800"/>
          </a:xfrm>
        </p:spPr>
        <p:txBody>
          <a:bodyPr/>
          <a:lstStyle/>
          <a:p>
            <a:r>
              <a:rPr lang="en-US" dirty="0"/>
              <a:t>Security Config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9156B-0BDD-2E2E-6BA2-907F39E39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4"/>
          </a:xfrm>
        </p:spPr>
        <p:txBody>
          <a:bodyPr/>
          <a:lstStyle/>
          <a:p>
            <a:pPr marL="457200" lvl="1" indent="0">
              <a:buNone/>
            </a:pPr>
            <a:r>
              <a:rPr lang="en-IN" b="1" dirty="0">
                <a:solidFill>
                  <a:srgbClr val="7030A0"/>
                </a:solidFill>
              </a:rPr>
              <a:t>import static </a:t>
            </a:r>
            <a:r>
              <a:rPr lang="en-IN" b="1" dirty="0" err="1">
                <a:solidFill>
                  <a:srgbClr val="7030A0"/>
                </a:solidFill>
              </a:rPr>
              <a:t>org.springframework.security.config.Customizer.</a:t>
            </a:r>
            <a:r>
              <a:rPr lang="en-IN" b="1" i="1" dirty="0" err="1">
                <a:solidFill>
                  <a:srgbClr val="7030A0"/>
                </a:solidFill>
              </a:rPr>
              <a:t>withDefaults</a:t>
            </a:r>
            <a:r>
              <a:rPr lang="en-IN" b="1" i="1" dirty="0">
                <a:solidFill>
                  <a:srgbClr val="7030A0"/>
                </a:solidFill>
              </a:rPr>
              <a:t>;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IN" dirty="0"/>
              <a:t>@Configuration</a:t>
            </a:r>
          </a:p>
          <a:p>
            <a:pPr marL="457200" lvl="1" indent="0">
              <a:buNone/>
            </a:pPr>
            <a:r>
              <a:rPr lang="en-IN" dirty="0"/>
              <a:t>@</a:t>
            </a:r>
            <a:r>
              <a:rPr lang="en-IN" dirty="0" err="1"/>
              <a:t>EnableWebSecurity</a:t>
            </a:r>
            <a:endParaRPr lang="en-IN" dirty="0"/>
          </a:p>
          <a:p>
            <a:pPr marL="457200" lvl="1" indent="0">
              <a:buNone/>
            </a:pPr>
            <a:r>
              <a:rPr lang="en-IN" b="1" dirty="0"/>
              <a:t>public</a:t>
            </a:r>
            <a:r>
              <a:rPr lang="en-IN" dirty="0"/>
              <a:t> </a:t>
            </a:r>
            <a:r>
              <a:rPr lang="en-IN" b="1" dirty="0"/>
              <a:t>class</a:t>
            </a:r>
            <a:r>
              <a:rPr lang="en-IN" dirty="0"/>
              <a:t> </a:t>
            </a:r>
            <a:r>
              <a:rPr lang="en-IN" dirty="0" err="1"/>
              <a:t>SecurityConfig</a:t>
            </a:r>
            <a:r>
              <a:rPr lang="en-IN" dirty="0"/>
              <a:t> {</a:t>
            </a:r>
          </a:p>
          <a:p>
            <a:pPr marL="457200" lvl="1" indent="0">
              <a:buNone/>
            </a:pPr>
            <a:endParaRPr lang="en-IN" sz="1800" dirty="0"/>
          </a:p>
          <a:p>
            <a:pPr marL="457200" lvl="1" indent="0">
              <a:buNone/>
            </a:pPr>
            <a:r>
              <a:rPr lang="en-IN" dirty="0"/>
              <a:t>@Bean</a:t>
            </a:r>
          </a:p>
          <a:p>
            <a:pPr marL="457200" lvl="1" indent="0">
              <a:buNone/>
            </a:pPr>
            <a:r>
              <a:rPr lang="en-IN" dirty="0" err="1"/>
              <a:t>BCryptPasswordEncoder</a:t>
            </a:r>
            <a:r>
              <a:rPr lang="en-IN" dirty="0"/>
              <a:t> encoder() {</a:t>
            </a:r>
          </a:p>
          <a:p>
            <a:pPr marL="457200" lvl="1" indent="0">
              <a:buNone/>
            </a:pPr>
            <a:r>
              <a:rPr lang="en-IN" b="1" dirty="0"/>
              <a:t>	return</a:t>
            </a:r>
            <a:r>
              <a:rPr lang="en-IN" dirty="0"/>
              <a:t> </a:t>
            </a:r>
            <a:r>
              <a:rPr lang="en-IN" b="1" dirty="0"/>
              <a:t>new</a:t>
            </a:r>
            <a:r>
              <a:rPr lang="en-IN" dirty="0"/>
              <a:t> </a:t>
            </a:r>
            <a:r>
              <a:rPr lang="en-IN" dirty="0" err="1"/>
              <a:t>BCryptPasswordEncoder</a:t>
            </a:r>
            <a:r>
              <a:rPr lang="en-IN" dirty="0"/>
              <a:t>();</a:t>
            </a:r>
          </a:p>
          <a:p>
            <a:pPr marL="457200" lvl="1" indent="0">
              <a:buNone/>
            </a:pPr>
            <a:r>
              <a:rPr lang="en-IN" dirty="0"/>
              <a:t>}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IN" dirty="0"/>
              <a:t>@Bean</a:t>
            </a:r>
          </a:p>
          <a:p>
            <a:pPr marL="457200" lvl="1" indent="0">
              <a:buNone/>
            </a:pPr>
            <a:r>
              <a:rPr lang="en-IN" dirty="0" err="1"/>
              <a:t>UserDetailsService</a:t>
            </a:r>
            <a:r>
              <a:rPr lang="en-IN" dirty="0"/>
              <a:t> </a:t>
            </a:r>
            <a:r>
              <a:rPr lang="en-IN" dirty="0" err="1"/>
              <a:t>userDetails</a:t>
            </a:r>
            <a:r>
              <a:rPr lang="en-IN" dirty="0"/>
              <a:t>(</a:t>
            </a:r>
            <a:r>
              <a:rPr lang="en-IN" dirty="0" err="1"/>
              <a:t>BCryptPasswordEncoder</a:t>
            </a:r>
            <a:r>
              <a:rPr lang="en-IN" dirty="0"/>
              <a:t> encoder) {</a:t>
            </a:r>
          </a:p>
          <a:p>
            <a:pPr marL="457200" lvl="1" indent="0">
              <a:buNone/>
            </a:pPr>
            <a:r>
              <a:rPr lang="en-IN" dirty="0" err="1"/>
              <a:t>UserDetails</a:t>
            </a:r>
            <a:r>
              <a:rPr lang="en-IN" dirty="0"/>
              <a:t> </a:t>
            </a:r>
            <a:r>
              <a:rPr lang="en-IN" dirty="0" err="1"/>
              <a:t>adminUser</a:t>
            </a:r>
            <a:r>
              <a:rPr lang="en-IN" dirty="0"/>
              <a:t> =</a:t>
            </a:r>
            <a:r>
              <a:rPr lang="en-IN" dirty="0" err="1"/>
              <a:t>User.</a:t>
            </a:r>
            <a:r>
              <a:rPr lang="en-IN" i="1" dirty="0" err="1"/>
              <a:t>builder</a:t>
            </a:r>
            <a:r>
              <a:rPr lang="en-IN" dirty="0"/>
              <a:t>().username("</a:t>
            </a:r>
            <a:r>
              <a:rPr lang="en-IN" dirty="0" err="1"/>
              <a:t>india</a:t>
            </a:r>
            <a:r>
              <a:rPr lang="en-IN" dirty="0"/>
              <a:t>").password(</a:t>
            </a:r>
            <a:r>
              <a:rPr lang="en-IN" dirty="0" err="1"/>
              <a:t>encoder.encode</a:t>
            </a:r>
            <a:r>
              <a:rPr lang="en-IN" dirty="0"/>
              <a:t>("</a:t>
            </a:r>
            <a:r>
              <a:rPr lang="en-IN" dirty="0" err="1"/>
              <a:t>india</a:t>
            </a:r>
            <a:r>
              <a:rPr lang="en-IN" dirty="0"/>
              <a:t>")).roles("ADMIN").build();</a:t>
            </a:r>
          </a:p>
          <a:p>
            <a:pPr marL="457200" lvl="1" indent="0">
              <a:buNone/>
            </a:pPr>
            <a:r>
              <a:rPr lang="en-IN" b="1" dirty="0"/>
              <a:t>    return</a:t>
            </a:r>
            <a:r>
              <a:rPr lang="en-IN" dirty="0"/>
              <a:t> </a:t>
            </a:r>
            <a:r>
              <a:rPr lang="en-IN" b="1" dirty="0"/>
              <a:t>new</a:t>
            </a:r>
            <a:r>
              <a:rPr lang="en-IN" dirty="0"/>
              <a:t> </a:t>
            </a:r>
            <a:r>
              <a:rPr lang="en-IN" dirty="0" err="1"/>
              <a:t>InMemoryUserDetailsManager</a:t>
            </a:r>
            <a:r>
              <a:rPr lang="en-IN" dirty="0"/>
              <a:t>(</a:t>
            </a:r>
            <a:r>
              <a:rPr lang="en-IN" dirty="0" err="1"/>
              <a:t>adminUser</a:t>
            </a:r>
            <a:r>
              <a:rPr lang="en-IN" dirty="0"/>
              <a:t>);</a:t>
            </a:r>
          </a:p>
          <a:p>
            <a:pPr marL="457200" lvl="1" indent="0">
              <a:buNone/>
            </a:pPr>
            <a:r>
              <a:rPr lang="en-IN" dirty="0"/>
              <a:t>}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br>
              <a:rPr lang="en-IN" sz="1800" dirty="0"/>
            </a:br>
            <a:endParaRPr lang="en-IN" sz="1800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795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52C18-C2C0-A65C-B58E-044711CAE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5A4DD-39B8-5C56-DFA2-2E8428DF1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Config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B5CEF-FE03-6B9A-4CB5-D52FF1AEC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IN" dirty="0"/>
              <a:t>@Bean</a:t>
            </a:r>
          </a:p>
          <a:p>
            <a:pPr marL="457200" lvl="1" indent="0">
              <a:buNone/>
            </a:pPr>
            <a:r>
              <a:rPr lang="en-IN" dirty="0" err="1"/>
              <a:t>SecurityFilterChain</a:t>
            </a:r>
            <a:r>
              <a:rPr lang="en-IN" dirty="0"/>
              <a:t> </a:t>
            </a:r>
            <a:r>
              <a:rPr lang="en-IN" dirty="0" err="1"/>
              <a:t>securityFilterChain</a:t>
            </a:r>
            <a:r>
              <a:rPr lang="en-IN" dirty="0"/>
              <a:t>(HttpSecurity http) </a:t>
            </a:r>
            <a:r>
              <a:rPr lang="en-IN" b="1" dirty="0"/>
              <a:t>throws</a:t>
            </a:r>
            <a:r>
              <a:rPr lang="en-IN" dirty="0"/>
              <a:t> Exception {</a:t>
            </a:r>
          </a:p>
          <a:p>
            <a:pPr marL="457200" lvl="1" indent="0">
              <a:buNone/>
            </a:pPr>
            <a:r>
              <a:rPr lang="en-IN" dirty="0"/>
              <a:t>http</a:t>
            </a:r>
          </a:p>
          <a:p>
            <a:pPr marL="457200" lvl="1" indent="0">
              <a:buNone/>
            </a:pPr>
            <a:r>
              <a:rPr lang="en-IN" dirty="0"/>
              <a:t>.</a:t>
            </a:r>
            <a:r>
              <a:rPr lang="en-IN" dirty="0" err="1"/>
              <a:t>csrf</a:t>
            </a:r>
            <a:r>
              <a:rPr lang="en-IN" dirty="0"/>
              <a:t>(</a:t>
            </a:r>
            <a:r>
              <a:rPr lang="en-IN" dirty="0" err="1"/>
              <a:t>csrf</a:t>
            </a:r>
            <a:r>
              <a:rPr lang="en-IN" dirty="0"/>
              <a:t> -&gt; </a:t>
            </a:r>
            <a:r>
              <a:rPr lang="en-IN" dirty="0" err="1"/>
              <a:t>csrf.disable</a:t>
            </a:r>
            <a:r>
              <a:rPr lang="en-IN" dirty="0"/>
              <a:t>()) </a:t>
            </a:r>
          </a:p>
          <a:p>
            <a:pPr marL="457200" lvl="1" indent="0">
              <a:buNone/>
            </a:pPr>
            <a:r>
              <a:rPr lang="en-IN" dirty="0"/>
              <a:t>.</a:t>
            </a:r>
            <a:r>
              <a:rPr lang="en-IN" dirty="0" err="1"/>
              <a:t>authorizeHttpRequests</a:t>
            </a:r>
            <a:r>
              <a:rPr lang="en-IN" dirty="0"/>
              <a:t>(auth -&gt; auth</a:t>
            </a:r>
          </a:p>
          <a:p>
            <a:pPr marL="457200" lvl="1" indent="0">
              <a:buNone/>
            </a:pPr>
            <a:r>
              <a:rPr lang="en-IN" dirty="0"/>
              <a:t>.</a:t>
            </a:r>
            <a:r>
              <a:rPr lang="en-IN" dirty="0" err="1"/>
              <a:t>requestMatchers</a:t>
            </a:r>
            <a:r>
              <a:rPr lang="en-IN" dirty="0"/>
              <a:t>("/</a:t>
            </a:r>
            <a:r>
              <a:rPr lang="en-IN" dirty="0" err="1"/>
              <a:t>api</a:t>
            </a:r>
            <a:r>
              <a:rPr lang="en-IN" dirty="0"/>
              <a:t>/v1/auth/**").</a:t>
            </a:r>
            <a:r>
              <a:rPr lang="en-IN" dirty="0" err="1"/>
              <a:t>permitAll</a:t>
            </a:r>
            <a:r>
              <a:rPr lang="en-IN" dirty="0"/>
              <a:t>()</a:t>
            </a:r>
          </a:p>
          <a:p>
            <a:pPr marL="457200" lvl="1" indent="0">
              <a:buNone/>
            </a:pPr>
            <a:r>
              <a:rPr lang="en-IN" dirty="0"/>
              <a:t>.</a:t>
            </a:r>
            <a:r>
              <a:rPr lang="en-IN" dirty="0" err="1"/>
              <a:t>anyRequest</a:t>
            </a:r>
            <a:r>
              <a:rPr lang="en-IN" dirty="0"/>
              <a:t>().authenticated()</a:t>
            </a:r>
          </a:p>
          <a:p>
            <a:pPr marL="457200" lvl="1" indent="0">
              <a:buNone/>
            </a:pPr>
            <a:r>
              <a:rPr lang="en-IN" dirty="0"/>
              <a:t>)</a:t>
            </a:r>
          </a:p>
          <a:p>
            <a:pPr marL="457200" lvl="1" indent="0">
              <a:buNone/>
            </a:pPr>
            <a:r>
              <a:rPr lang="en-IN" dirty="0"/>
              <a:t>.</a:t>
            </a:r>
            <a:r>
              <a:rPr lang="en-IN" dirty="0" err="1"/>
              <a:t>httpBasic</a:t>
            </a:r>
            <a:r>
              <a:rPr lang="en-IN" dirty="0"/>
              <a:t>(</a:t>
            </a:r>
            <a:r>
              <a:rPr lang="en-IN" dirty="0" err="1"/>
              <a:t>Customizer.</a:t>
            </a:r>
            <a:r>
              <a:rPr lang="en-IN" i="1" dirty="0" err="1"/>
              <a:t>withDefaults</a:t>
            </a:r>
            <a:r>
              <a:rPr lang="en-IN" dirty="0"/>
              <a:t>());</a:t>
            </a:r>
          </a:p>
          <a:p>
            <a:pPr marL="457200" lvl="1" indent="0">
              <a:buNone/>
            </a:pPr>
            <a:r>
              <a:rPr lang="en-IN" b="1" dirty="0"/>
              <a:t>return</a:t>
            </a:r>
            <a:r>
              <a:rPr lang="en-IN" dirty="0"/>
              <a:t> </a:t>
            </a:r>
            <a:r>
              <a:rPr lang="en-IN" dirty="0" err="1"/>
              <a:t>http.build</a:t>
            </a:r>
            <a:r>
              <a:rPr lang="en-IN" dirty="0"/>
              <a:t>();</a:t>
            </a:r>
          </a:p>
          <a:p>
            <a:pPr marL="457200" lvl="1" indent="0">
              <a:buNone/>
            </a:pPr>
            <a:r>
              <a:rPr lang="en-IN" dirty="0"/>
              <a:t>}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IN" sz="1800" dirty="0"/>
              <a:t>.</a:t>
            </a:r>
            <a:r>
              <a:rPr lang="en-IN" sz="1800" dirty="0" err="1"/>
              <a:t>requestMatchers</a:t>
            </a:r>
            <a:r>
              <a:rPr lang="en-IN" sz="1800" dirty="0"/>
              <a:t>(</a:t>
            </a:r>
            <a:r>
              <a:rPr lang="en-IN" sz="1800" dirty="0" err="1"/>
              <a:t>HttpMethod.GET</a:t>
            </a:r>
            <a:r>
              <a:rPr lang="en-IN" sz="1800" dirty="0"/>
              <a:t>, "/</a:t>
            </a:r>
            <a:r>
              <a:rPr lang="en-IN" sz="1800" dirty="0" err="1"/>
              <a:t>api</a:t>
            </a:r>
            <a:r>
              <a:rPr lang="en-IN" sz="1800" dirty="0"/>
              <a:t>/v1/cards").</a:t>
            </a:r>
            <a:r>
              <a:rPr lang="en-IN" sz="1800" dirty="0" err="1"/>
              <a:t>permitAll</a:t>
            </a:r>
            <a:r>
              <a:rPr lang="en-IN" sz="1800" dirty="0"/>
              <a:t>()</a:t>
            </a:r>
          </a:p>
          <a:p>
            <a:pPr marL="0" indent="0">
              <a:buNone/>
            </a:pP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450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47F58-1AEE-2FA3-C75C-E691BC7F1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Config-H2 Specific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68DFD-C9ED-3FFE-5EF5-F1148B2FF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IN" dirty="0"/>
              <a:t>@Bean</a:t>
            </a:r>
          </a:p>
          <a:p>
            <a:pPr marL="457200" lvl="1" indent="0">
              <a:buNone/>
            </a:pPr>
            <a:r>
              <a:rPr lang="en-IN" dirty="0" err="1"/>
              <a:t>SecurityFilterChain</a:t>
            </a:r>
            <a:r>
              <a:rPr lang="en-IN" dirty="0"/>
              <a:t> </a:t>
            </a:r>
            <a:r>
              <a:rPr lang="en-IN" dirty="0" err="1"/>
              <a:t>securityFilterChain</a:t>
            </a:r>
            <a:r>
              <a:rPr lang="en-IN" dirty="0"/>
              <a:t>(HttpSecurity http) </a:t>
            </a:r>
            <a:r>
              <a:rPr lang="en-IN" b="1" dirty="0"/>
              <a:t>throws</a:t>
            </a:r>
            <a:r>
              <a:rPr lang="en-IN" dirty="0"/>
              <a:t> Exception {</a:t>
            </a:r>
          </a:p>
          <a:p>
            <a:pPr marL="457200" lvl="1" indent="0">
              <a:buNone/>
            </a:pPr>
            <a:r>
              <a:rPr lang="en-IN" dirty="0"/>
              <a:t>http</a:t>
            </a:r>
          </a:p>
          <a:p>
            <a:pPr marL="457200" lvl="1" indent="0">
              <a:buNone/>
            </a:pPr>
            <a:r>
              <a:rPr lang="en-IN" dirty="0"/>
              <a:t>.</a:t>
            </a:r>
            <a:r>
              <a:rPr lang="en-IN" dirty="0" err="1"/>
              <a:t>csrf</a:t>
            </a:r>
            <a:r>
              <a:rPr lang="en-IN" dirty="0"/>
              <a:t>(</a:t>
            </a:r>
            <a:r>
              <a:rPr lang="en-IN" dirty="0" err="1"/>
              <a:t>csrf</a:t>
            </a:r>
            <a:r>
              <a:rPr lang="en-IN" dirty="0"/>
              <a:t> -&gt; </a:t>
            </a:r>
            <a:r>
              <a:rPr lang="en-IN" dirty="0" err="1"/>
              <a:t>csrf.disable</a:t>
            </a:r>
            <a:r>
              <a:rPr lang="en-IN" dirty="0"/>
              <a:t>()) </a:t>
            </a:r>
          </a:p>
          <a:p>
            <a:pPr marL="457200" lvl="1" indent="0">
              <a:buNone/>
            </a:pPr>
            <a:r>
              <a:rPr lang="en-IN" dirty="0"/>
              <a:t>.</a:t>
            </a:r>
            <a:r>
              <a:rPr lang="en-IN" dirty="0" err="1"/>
              <a:t>authorizeHttpRequests</a:t>
            </a:r>
            <a:r>
              <a:rPr lang="en-IN" dirty="0"/>
              <a:t>(auth -&gt; auth</a:t>
            </a:r>
          </a:p>
          <a:p>
            <a:pPr marL="457200" lvl="1" indent="0">
              <a:buNone/>
            </a:pPr>
            <a:r>
              <a:rPr lang="en-IN" b="1" dirty="0">
                <a:solidFill>
                  <a:srgbClr val="0070C0"/>
                </a:solidFill>
              </a:rPr>
              <a:t>.</a:t>
            </a:r>
            <a:r>
              <a:rPr lang="en-IN" b="1" dirty="0" err="1">
                <a:solidFill>
                  <a:srgbClr val="0070C0"/>
                </a:solidFill>
              </a:rPr>
              <a:t>requestMatchers</a:t>
            </a:r>
            <a:r>
              <a:rPr lang="en-IN" b="1" dirty="0">
                <a:solidFill>
                  <a:srgbClr val="0070C0"/>
                </a:solidFill>
              </a:rPr>
              <a:t>(PathRequest.</a:t>
            </a:r>
            <a:r>
              <a:rPr lang="en-IN" b="1" i="1" dirty="0">
                <a:solidFill>
                  <a:srgbClr val="0070C0"/>
                </a:solidFill>
              </a:rPr>
              <a:t>toH2Console</a:t>
            </a:r>
            <a:r>
              <a:rPr lang="en-IN" b="1" dirty="0">
                <a:solidFill>
                  <a:srgbClr val="0070C0"/>
                </a:solidFill>
              </a:rPr>
              <a:t>()).</a:t>
            </a:r>
            <a:r>
              <a:rPr lang="en-IN" b="1" dirty="0" err="1">
                <a:solidFill>
                  <a:srgbClr val="0070C0"/>
                </a:solidFill>
              </a:rPr>
              <a:t>permitAll</a:t>
            </a:r>
            <a:r>
              <a:rPr lang="en-IN" b="1" dirty="0">
                <a:solidFill>
                  <a:srgbClr val="0070C0"/>
                </a:solidFill>
              </a:rPr>
              <a:t>() </a:t>
            </a:r>
          </a:p>
          <a:p>
            <a:pPr marL="457200" lvl="1" indent="0">
              <a:buNone/>
            </a:pPr>
            <a:r>
              <a:rPr lang="en-IN" dirty="0"/>
              <a:t>.</a:t>
            </a:r>
            <a:r>
              <a:rPr lang="en-IN" dirty="0" err="1"/>
              <a:t>requestMatchers</a:t>
            </a:r>
            <a:r>
              <a:rPr lang="en-IN" dirty="0"/>
              <a:t>("/</a:t>
            </a:r>
            <a:r>
              <a:rPr lang="en-IN" dirty="0" err="1"/>
              <a:t>api</a:t>
            </a:r>
            <a:r>
              <a:rPr lang="en-IN" dirty="0"/>
              <a:t>/v1/auth/**").</a:t>
            </a:r>
            <a:r>
              <a:rPr lang="en-IN" dirty="0" err="1"/>
              <a:t>permitAll</a:t>
            </a:r>
            <a:r>
              <a:rPr lang="en-IN" dirty="0"/>
              <a:t>()</a:t>
            </a:r>
          </a:p>
          <a:p>
            <a:pPr marL="457200" lvl="1" indent="0">
              <a:buNone/>
            </a:pPr>
            <a:r>
              <a:rPr lang="en-IN" dirty="0"/>
              <a:t>.</a:t>
            </a:r>
            <a:r>
              <a:rPr lang="en-IN" dirty="0" err="1"/>
              <a:t>requestMatchers</a:t>
            </a:r>
            <a:r>
              <a:rPr lang="en-IN" dirty="0"/>
              <a:t>("/admin/**").</a:t>
            </a:r>
            <a:r>
              <a:rPr lang="en-IN" dirty="0" err="1"/>
              <a:t>hasRole</a:t>
            </a:r>
            <a:r>
              <a:rPr lang="en-IN" dirty="0"/>
              <a:t>("ADMIN")</a:t>
            </a:r>
          </a:p>
          <a:p>
            <a:pPr marL="457200" lvl="1" indent="0">
              <a:buNone/>
            </a:pPr>
            <a:r>
              <a:rPr lang="en-IN" dirty="0"/>
              <a:t>.</a:t>
            </a:r>
            <a:r>
              <a:rPr lang="en-IN" dirty="0" err="1"/>
              <a:t>anyRequest</a:t>
            </a:r>
            <a:r>
              <a:rPr lang="en-IN" dirty="0"/>
              <a:t>().authenticated()</a:t>
            </a:r>
          </a:p>
          <a:p>
            <a:pPr marL="457200" lvl="1" indent="0">
              <a:buNone/>
            </a:pPr>
            <a:r>
              <a:rPr lang="en-IN" dirty="0"/>
              <a:t>)</a:t>
            </a:r>
          </a:p>
          <a:p>
            <a:pPr marL="457200" lvl="1" indent="0">
              <a:buNone/>
            </a:pPr>
            <a:r>
              <a:rPr lang="en-IN" b="1" dirty="0">
                <a:solidFill>
                  <a:srgbClr val="0070C0"/>
                </a:solidFill>
              </a:rPr>
              <a:t>.headers(headers -&gt; headers</a:t>
            </a:r>
          </a:p>
          <a:p>
            <a:pPr marL="457200" lvl="1" indent="0">
              <a:buNone/>
            </a:pPr>
            <a:r>
              <a:rPr lang="en-IN" b="1" dirty="0">
                <a:solidFill>
                  <a:srgbClr val="0070C0"/>
                </a:solidFill>
              </a:rPr>
              <a:t>.</a:t>
            </a:r>
            <a:r>
              <a:rPr lang="en-IN" b="1" dirty="0" err="1">
                <a:solidFill>
                  <a:srgbClr val="0070C0"/>
                </a:solidFill>
              </a:rPr>
              <a:t>frameOptions</a:t>
            </a:r>
            <a:r>
              <a:rPr lang="en-IN" b="1" dirty="0">
                <a:solidFill>
                  <a:srgbClr val="0070C0"/>
                </a:solidFill>
              </a:rPr>
              <a:t>(frame -&gt; </a:t>
            </a:r>
            <a:r>
              <a:rPr lang="en-IN" b="1" dirty="0" err="1">
                <a:solidFill>
                  <a:srgbClr val="0070C0"/>
                </a:solidFill>
              </a:rPr>
              <a:t>frame.sameOrigin</a:t>
            </a:r>
            <a:r>
              <a:rPr lang="en-IN" b="1" dirty="0">
                <a:solidFill>
                  <a:srgbClr val="0070C0"/>
                </a:solidFill>
              </a:rPr>
              <a:t>()) </a:t>
            </a:r>
          </a:p>
          <a:p>
            <a:pPr marL="457200" lvl="1" indent="0">
              <a:buNone/>
            </a:pPr>
            <a:r>
              <a:rPr lang="en-IN" b="1" dirty="0">
                <a:solidFill>
                  <a:srgbClr val="0070C0"/>
                </a:solidFill>
              </a:rPr>
              <a:t>)</a:t>
            </a:r>
          </a:p>
          <a:p>
            <a:pPr marL="457200" lvl="1" indent="0">
              <a:buNone/>
            </a:pPr>
            <a:r>
              <a:rPr lang="en-IN" dirty="0"/>
              <a:t>.</a:t>
            </a:r>
            <a:r>
              <a:rPr lang="en-IN" dirty="0" err="1"/>
              <a:t>httpBasic</a:t>
            </a:r>
            <a:r>
              <a:rPr lang="en-IN" dirty="0"/>
              <a:t>(</a:t>
            </a:r>
            <a:r>
              <a:rPr lang="en-IN" dirty="0" err="1"/>
              <a:t>Customizer.</a:t>
            </a:r>
            <a:r>
              <a:rPr lang="en-IN" i="1" dirty="0" err="1"/>
              <a:t>withDefaults</a:t>
            </a:r>
            <a:r>
              <a:rPr lang="en-IN" dirty="0"/>
              <a:t>());</a:t>
            </a:r>
          </a:p>
          <a:p>
            <a:pPr marL="457200" lvl="1" indent="0">
              <a:buNone/>
            </a:pPr>
            <a:r>
              <a:rPr lang="en-IN" b="1" dirty="0"/>
              <a:t>return</a:t>
            </a:r>
            <a:r>
              <a:rPr lang="en-IN" dirty="0"/>
              <a:t> </a:t>
            </a:r>
            <a:r>
              <a:rPr lang="en-IN" dirty="0" err="1"/>
              <a:t>http.build</a:t>
            </a:r>
            <a:r>
              <a:rPr lang="en-IN" dirty="0"/>
              <a:t>();</a:t>
            </a:r>
          </a:p>
          <a:p>
            <a:pPr marL="457200" lvl="1" indent="0">
              <a:buNone/>
            </a:pPr>
            <a:r>
              <a:rPr lang="en-IN" dirty="0"/>
              <a:t>}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86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16E96-02FD-E9F7-EF12-0F0E69440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Capture Authentication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94735-54F2-ED20-E65A-B6EB72F7D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lnSpc>
                <a:spcPct val="200000"/>
              </a:lnSpc>
              <a:buNone/>
            </a:pPr>
            <a:r>
              <a:rPr lang="en-IN" sz="1800" dirty="0" err="1"/>
              <a:t>ResponseEntity</a:t>
            </a:r>
            <a:r>
              <a:rPr lang="en-IN" sz="1800" dirty="0"/>
              <a:t>&lt;Collection&lt;</a:t>
            </a:r>
            <a:r>
              <a:rPr lang="en-IN" sz="1800" dirty="0" err="1"/>
              <a:t>ResponseDto</a:t>
            </a:r>
            <a:r>
              <a:rPr lang="en-IN" sz="1800" dirty="0"/>
              <a:t>&gt;&gt; </a:t>
            </a:r>
            <a:r>
              <a:rPr lang="en-IN" sz="1800" dirty="0" err="1"/>
              <a:t>findAll</a:t>
            </a:r>
            <a:r>
              <a:rPr lang="en-IN" sz="1800" dirty="0"/>
              <a:t>(Authentication auth){</a:t>
            </a:r>
          </a:p>
          <a:p>
            <a:pPr marL="457200" lvl="1" indent="0">
              <a:lnSpc>
                <a:spcPct val="200000"/>
              </a:lnSpc>
              <a:buNone/>
            </a:pPr>
            <a:r>
              <a:rPr lang="en-IN" sz="1800" dirty="0" err="1"/>
              <a:t>System.</a:t>
            </a:r>
            <a:r>
              <a:rPr lang="en-IN" sz="1800" b="1" i="1" dirty="0" err="1"/>
              <a:t>out</a:t>
            </a:r>
            <a:r>
              <a:rPr lang="en-IN" sz="1800" dirty="0" err="1"/>
              <a:t>.println</a:t>
            </a:r>
            <a:r>
              <a:rPr lang="en-IN" sz="1800" dirty="0"/>
              <a:t>("User Details ===&gt;"+</a:t>
            </a:r>
            <a:r>
              <a:rPr lang="en-IN" sz="1800" dirty="0" err="1"/>
              <a:t>auth.getName</a:t>
            </a:r>
            <a:r>
              <a:rPr lang="en-IN" sz="1800" dirty="0"/>
              <a:t>());</a:t>
            </a:r>
          </a:p>
          <a:p>
            <a:pPr marL="457200" lvl="1" indent="0">
              <a:lnSpc>
                <a:spcPct val="200000"/>
              </a:lnSpc>
              <a:buNone/>
            </a:pPr>
            <a:r>
              <a:rPr lang="en-IN" sz="1800" dirty="0" err="1"/>
              <a:t>System.</a:t>
            </a:r>
            <a:r>
              <a:rPr lang="en-IN" sz="1800" b="1" i="1" dirty="0" err="1"/>
              <a:t>out</a:t>
            </a:r>
            <a:r>
              <a:rPr lang="en-IN" sz="1800" dirty="0" err="1"/>
              <a:t>.println</a:t>
            </a:r>
            <a:r>
              <a:rPr lang="en-IN" sz="1800" dirty="0"/>
              <a:t>("Is Authenticated"+</a:t>
            </a:r>
            <a:r>
              <a:rPr lang="en-IN" sz="1800" dirty="0" err="1"/>
              <a:t>auth.isAuthenticated</a:t>
            </a:r>
            <a:r>
              <a:rPr lang="en-IN" sz="1800" dirty="0"/>
              <a:t>());</a:t>
            </a:r>
          </a:p>
          <a:p>
            <a:pPr marL="457200" lvl="1" indent="0">
              <a:lnSpc>
                <a:spcPct val="200000"/>
              </a:lnSpc>
              <a:buNone/>
            </a:pPr>
            <a:r>
              <a:rPr lang="en-IN" sz="1800" dirty="0" err="1"/>
              <a:t>auth.getAuthorities</a:t>
            </a:r>
            <a:r>
              <a:rPr lang="en-IN" sz="1800" dirty="0"/>
              <a:t>().</a:t>
            </a:r>
            <a:r>
              <a:rPr lang="en-IN" sz="1800" dirty="0" err="1"/>
              <a:t>forEach</a:t>
            </a:r>
            <a:r>
              <a:rPr lang="en-IN" sz="1800" dirty="0"/>
              <a:t>(</a:t>
            </a:r>
            <a:r>
              <a:rPr lang="en-IN" sz="1800" dirty="0" err="1"/>
              <a:t>System.</a:t>
            </a:r>
            <a:r>
              <a:rPr lang="en-IN" sz="1800" b="1" i="1" dirty="0" err="1"/>
              <a:t>out</a:t>
            </a:r>
            <a:r>
              <a:rPr lang="en-IN" sz="1800" dirty="0"/>
              <a:t>::</a:t>
            </a:r>
            <a:r>
              <a:rPr lang="en-IN" sz="1800" dirty="0" err="1"/>
              <a:t>println</a:t>
            </a:r>
            <a:r>
              <a:rPr lang="en-IN" sz="1800" dirty="0"/>
              <a:t>);;</a:t>
            </a:r>
          </a:p>
          <a:p>
            <a:pPr marL="457200" lvl="1" indent="0">
              <a:lnSpc>
                <a:spcPct val="200000"/>
              </a:lnSpc>
              <a:buNone/>
            </a:pPr>
            <a:r>
              <a:rPr lang="en-IN" sz="1800" b="1" dirty="0"/>
              <a:t>return</a:t>
            </a:r>
            <a:r>
              <a:rPr lang="en-IN" sz="1800" dirty="0"/>
              <a:t> </a:t>
            </a:r>
            <a:r>
              <a:rPr lang="en-IN" sz="1800" dirty="0" err="1"/>
              <a:t>ResponseEntity.</a:t>
            </a:r>
            <a:r>
              <a:rPr lang="en-IN" sz="1800" i="1" dirty="0" err="1"/>
              <a:t>ok</a:t>
            </a:r>
            <a:r>
              <a:rPr lang="en-IN" sz="1800" dirty="0"/>
              <a:t>(</a:t>
            </a:r>
            <a:r>
              <a:rPr lang="en-IN" sz="1800" b="1" dirty="0" err="1"/>
              <a:t>this</a:t>
            </a:r>
            <a:r>
              <a:rPr lang="en-IN" sz="1800" dirty="0" err="1"/>
              <a:t>.service.findAll</a:t>
            </a:r>
            <a:r>
              <a:rPr lang="en-IN" sz="1800" dirty="0"/>
              <a:t>());</a:t>
            </a:r>
          </a:p>
          <a:p>
            <a:pPr marL="457200" lvl="1" indent="0">
              <a:lnSpc>
                <a:spcPct val="200000"/>
              </a:lnSpc>
              <a:buNone/>
            </a:pPr>
            <a:r>
              <a:rPr lang="en-IN" sz="1800" dirty="0"/>
              <a:t>}</a:t>
            </a:r>
          </a:p>
          <a:p>
            <a:pPr marL="457200" lvl="1" indent="0">
              <a:lnSpc>
                <a:spcPct val="200000"/>
              </a:lnSpc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41623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DA5F2-8B7C-B42E-8956-D834A4074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Level Annotation-SPEL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BFABF-6289-CCD0-CA06-F682BCEC4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68364"/>
            <a:ext cx="8229600" cy="5257800"/>
          </a:xfrm>
        </p:spPr>
        <p:txBody>
          <a:bodyPr/>
          <a:lstStyle/>
          <a:p>
            <a:r>
              <a:rPr lang="en-IN" sz="1800" dirty="0"/>
              <a:t>@</a:t>
            </a:r>
            <a:r>
              <a:rPr lang="en-IN" sz="1800" dirty="0" err="1"/>
              <a:t>EnableMethodSecurity</a:t>
            </a:r>
            <a:endParaRPr lang="en-IN" sz="1800" dirty="0"/>
          </a:p>
          <a:p>
            <a:pPr lvl="1"/>
            <a:r>
              <a:rPr lang="en-IN" sz="1800" dirty="0"/>
              <a:t>Restricting access to specific methods </a:t>
            </a:r>
          </a:p>
          <a:p>
            <a:pPr lvl="1"/>
            <a:r>
              <a:rPr lang="en-IN" sz="1800" dirty="0"/>
              <a:t>To ensure that only authorized users can perform critical operations.</a:t>
            </a:r>
            <a:br>
              <a:rPr lang="en-IN" sz="1800" dirty="0"/>
            </a:br>
            <a:endParaRPr lang="en-IN" sz="1800" dirty="0"/>
          </a:p>
          <a:p>
            <a:r>
              <a:rPr lang="en-IN" sz="1800" dirty="0"/>
              <a:t>@</a:t>
            </a:r>
            <a:r>
              <a:rPr lang="en-IN" sz="1800" dirty="0" err="1"/>
              <a:t>PreAuthorize</a:t>
            </a:r>
            <a:endParaRPr lang="en-IN" sz="1800" dirty="0"/>
          </a:p>
          <a:p>
            <a:pPr lvl="1"/>
            <a:r>
              <a:rPr lang="en-IN" sz="1800" dirty="0"/>
              <a:t>Access control is evaluated prior to method invocation. </a:t>
            </a:r>
          </a:p>
          <a:p>
            <a:pPr lvl="1"/>
            <a:r>
              <a:rPr lang="en-IN" sz="1800" dirty="0"/>
              <a:t>It leverages Spring Expression Language (</a:t>
            </a:r>
            <a:r>
              <a:rPr lang="en-IN" sz="1800" dirty="0" err="1"/>
              <a:t>SpEL</a:t>
            </a:r>
            <a:r>
              <a:rPr lang="en-IN" sz="1800" dirty="0"/>
              <a:t>) expressions </a:t>
            </a:r>
          </a:p>
          <a:p>
            <a:pPr lvl="1"/>
            <a:r>
              <a:rPr lang="en-IN" sz="1800" dirty="0"/>
              <a:t>Dynamically determine access permissions.</a:t>
            </a:r>
          </a:p>
          <a:p>
            <a:pPr marL="400050" lvl="1" indent="0">
              <a:buNone/>
            </a:pPr>
            <a:r>
              <a:rPr lang="en-IN" sz="1800" i="1" dirty="0">
                <a:solidFill>
                  <a:srgbClr val="0070C0"/>
                </a:solidFill>
              </a:rPr>
              <a:t>@</a:t>
            </a:r>
            <a:r>
              <a:rPr lang="en-IN" sz="1800" i="1" dirty="0" err="1">
                <a:solidFill>
                  <a:srgbClr val="0070C0"/>
                </a:solidFill>
              </a:rPr>
              <a:t>PreAuthorize</a:t>
            </a:r>
            <a:r>
              <a:rPr lang="en-IN" sz="1800" i="1" dirty="0">
                <a:solidFill>
                  <a:srgbClr val="0070C0"/>
                </a:solidFill>
              </a:rPr>
              <a:t>("</a:t>
            </a:r>
            <a:r>
              <a:rPr lang="en-IN" sz="1800" i="1" dirty="0" err="1">
                <a:solidFill>
                  <a:srgbClr val="0070C0"/>
                </a:solidFill>
              </a:rPr>
              <a:t>hasRole</a:t>
            </a:r>
            <a:r>
              <a:rPr lang="en-IN" sz="1800" i="1" dirty="0">
                <a:solidFill>
                  <a:srgbClr val="0070C0"/>
                </a:solidFill>
              </a:rPr>
              <a:t>('ADMIN')") </a:t>
            </a:r>
          </a:p>
          <a:p>
            <a:pPr marL="400050" lvl="1" indent="0">
              <a:buNone/>
            </a:pPr>
            <a:r>
              <a:rPr lang="en-IN" sz="1800" i="1" dirty="0">
                <a:solidFill>
                  <a:srgbClr val="0070C0"/>
                </a:solidFill>
              </a:rPr>
              <a:t>@</a:t>
            </a:r>
            <a:r>
              <a:rPr lang="en-IN" sz="1800" i="1" dirty="0" err="1">
                <a:solidFill>
                  <a:srgbClr val="0070C0"/>
                </a:solidFill>
              </a:rPr>
              <a:t>PreAuthorize</a:t>
            </a:r>
            <a:r>
              <a:rPr lang="en-IN" sz="1800" i="1" dirty="0">
                <a:solidFill>
                  <a:srgbClr val="0070C0"/>
                </a:solidFill>
              </a:rPr>
              <a:t>("#id == </a:t>
            </a:r>
            <a:r>
              <a:rPr lang="en-IN" sz="1800" i="1" dirty="0" err="1">
                <a:solidFill>
                  <a:srgbClr val="0070C0"/>
                </a:solidFill>
              </a:rPr>
              <a:t>authentication.principal.id</a:t>
            </a:r>
            <a:r>
              <a:rPr lang="en-IN" sz="1800" i="1" dirty="0">
                <a:solidFill>
                  <a:srgbClr val="0070C0"/>
                </a:solidFill>
              </a:rPr>
              <a:t>").</a:t>
            </a:r>
          </a:p>
          <a:p>
            <a:r>
              <a:rPr lang="en-IN" sz="1800" dirty="0"/>
              <a:t>@</a:t>
            </a:r>
            <a:r>
              <a:rPr lang="en-IN" sz="1800" dirty="0" err="1"/>
              <a:t>PostAuthorize</a:t>
            </a:r>
            <a:endParaRPr lang="en-IN" dirty="0"/>
          </a:p>
          <a:p>
            <a:pPr lvl="1"/>
            <a:r>
              <a:rPr lang="en-IN" sz="1800" dirty="0"/>
              <a:t>Evaluates an expression </a:t>
            </a:r>
            <a:r>
              <a:rPr lang="en-IN" sz="1800" b="1" dirty="0"/>
              <a:t>after</a:t>
            </a:r>
            <a:r>
              <a:rPr lang="en-IN" sz="1800" dirty="0"/>
              <a:t> the method executes</a:t>
            </a:r>
          </a:p>
          <a:p>
            <a:pPr lvl="1"/>
            <a:r>
              <a:rPr lang="en-IN" sz="1800" dirty="0"/>
              <a:t>Used to check the returned object.</a:t>
            </a:r>
          </a:p>
          <a:p>
            <a:pPr marL="400050" lvl="1" indent="0">
              <a:buNone/>
            </a:pPr>
            <a:r>
              <a:rPr lang="en-IN" sz="1800" i="1" dirty="0">
                <a:solidFill>
                  <a:srgbClr val="0070C0"/>
                </a:solidFill>
              </a:rPr>
              <a:t>@</a:t>
            </a:r>
            <a:r>
              <a:rPr lang="en-IN" sz="1800" i="1" dirty="0" err="1">
                <a:solidFill>
                  <a:srgbClr val="0070C0"/>
                </a:solidFill>
              </a:rPr>
              <a:t>PostAuthorize</a:t>
            </a:r>
            <a:r>
              <a:rPr lang="en-IN" sz="1800" i="1" dirty="0">
                <a:solidFill>
                  <a:srgbClr val="0070C0"/>
                </a:solidFill>
              </a:rPr>
              <a:t>("</a:t>
            </a:r>
            <a:r>
              <a:rPr lang="en-IN" sz="1800" i="1" dirty="0" err="1">
                <a:solidFill>
                  <a:srgbClr val="0070C0"/>
                </a:solidFill>
              </a:rPr>
              <a:t>returnObject.owner</a:t>
            </a:r>
            <a:r>
              <a:rPr lang="en-IN" sz="1800" i="1" dirty="0">
                <a:solidFill>
                  <a:srgbClr val="0070C0"/>
                </a:solidFill>
              </a:rPr>
              <a:t> == </a:t>
            </a:r>
            <a:r>
              <a:rPr lang="en-IN" sz="1800" i="1" dirty="0" err="1">
                <a:solidFill>
                  <a:srgbClr val="0070C0"/>
                </a:solidFill>
              </a:rPr>
              <a:t>authentication.name</a:t>
            </a:r>
            <a:r>
              <a:rPr lang="en-IN" sz="1800" i="1" dirty="0">
                <a:solidFill>
                  <a:srgbClr val="0070C0"/>
                </a:solidFill>
              </a:rPr>
              <a:t>").</a:t>
            </a:r>
          </a:p>
          <a:p>
            <a:pPr marL="400050" lvl="1" indent="0">
              <a:buNone/>
            </a:pPr>
            <a:endParaRPr lang="en-IN" sz="1800" i="1" dirty="0">
              <a:solidFill>
                <a:srgbClr val="0070C0"/>
              </a:solidFill>
            </a:endParaRPr>
          </a:p>
          <a:p>
            <a:pPr marL="0" indent="0">
              <a:buNone/>
            </a:pPr>
            <a:br>
              <a:rPr lang="en-IN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81274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70EBF7AE-1F6A-104D-9E42-63AF95D7AE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CSRF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A5459-58ED-B0AB-8FBC-1D7E91E2C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Its a web security vulnerability that allows an attacker to induce users to perform actions that they do not intend to perform. </a:t>
            </a:r>
          </a:p>
          <a:p>
            <a:pPr>
              <a:defRPr/>
            </a:pPr>
            <a:endParaRPr lang="en-US" sz="2000" dirty="0"/>
          </a:p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It allows an attacker to partly circumvent the same origin policy, which is designed to prevent different websites from interfering with each other.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Should be used for protecting  any request that could be processed by a browser by normal users. 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b="1" i="1" dirty="0"/>
              <a:t>If a service is used by non-browser clients, CSRF protection can be disabled</a:t>
            </a:r>
          </a:p>
          <a:p>
            <a:pPr>
              <a:buFontTx/>
              <a:buNone/>
              <a:defRPr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649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D5316036-ACD7-4205-870E-E69018A98B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Entity and Repository</a:t>
            </a:r>
            <a:endParaRPr lang="en-IN" altLang="en-US" dirty="0"/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11CA0B9B-24F1-E969-D433-1BDC3F97CF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868364"/>
            <a:ext cx="8229600" cy="5257800"/>
          </a:xfrm>
        </p:spPr>
        <p:txBody>
          <a:bodyPr/>
          <a:lstStyle/>
          <a:p>
            <a:pPr marL="457200" lvl="1" indent="0">
              <a:buNone/>
            </a:pPr>
            <a:r>
              <a:rPr lang="en-IN" sz="1800" dirty="0"/>
              <a:t>@Entity</a:t>
            </a:r>
          </a:p>
          <a:p>
            <a:pPr marL="457200" lvl="1" indent="0">
              <a:buNone/>
            </a:pPr>
            <a:r>
              <a:rPr lang="en-IN" sz="1800" dirty="0"/>
              <a:t>@Table(name = "user")</a:t>
            </a:r>
          </a:p>
          <a:p>
            <a:pPr marL="457200" lvl="1" indent="0">
              <a:buNone/>
            </a:pPr>
            <a:r>
              <a:rPr lang="en-IN" sz="1800" b="1" dirty="0"/>
              <a:t>public</a:t>
            </a:r>
            <a:r>
              <a:rPr lang="en-IN" sz="1800" dirty="0"/>
              <a:t> </a:t>
            </a:r>
            <a:r>
              <a:rPr lang="en-IN" sz="1800" b="1" dirty="0"/>
              <a:t>class</a:t>
            </a:r>
            <a:r>
              <a:rPr lang="en-IN" sz="1800" dirty="0"/>
              <a:t> </a:t>
            </a:r>
            <a:r>
              <a:rPr lang="en-IN" sz="1800" dirty="0" err="1"/>
              <a:t>UserEntity</a:t>
            </a:r>
            <a:r>
              <a:rPr lang="en-IN" sz="1800" dirty="0"/>
              <a:t> {</a:t>
            </a:r>
          </a:p>
          <a:p>
            <a:pPr marL="457200" lvl="1" indent="0">
              <a:buNone/>
            </a:pPr>
            <a:r>
              <a:rPr lang="en-IN" sz="1800" dirty="0"/>
              <a:t>@Id</a:t>
            </a:r>
          </a:p>
          <a:p>
            <a:pPr marL="457200" lvl="1" indent="0">
              <a:buNone/>
            </a:pPr>
            <a:r>
              <a:rPr lang="en-IN" sz="1800" dirty="0"/>
              <a:t>@</a:t>
            </a:r>
            <a:r>
              <a:rPr lang="en-IN" sz="1800" dirty="0" err="1"/>
              <a:t>GeneratedValue</a:t>
            </a:r>
            <a:r>
              <a:rPr lang="en-IN" sz="1800" dirty="0"/>
              <a:t>(strategy = </a:t>
            </a:r>
            <a:r>
              <a:rPr lang="en-IN" sz="1800" dirty="0" err="1"/>
              <a:t>GenerationType.</a:t>
            </a:r>
            <a:r>
              <a:rPr lang="en-IN" sz="1800" b="1" i="1" dirty="0" err="1"/>
              <a:t>IDENTITY</a:t>
            </a:r>
            <a:r>
              <a:rPr lang="en-IN" sz="1800" dirty="0"/>
              <a:t>)</a:t>
            </a:r>
          </a:p>
          <a:p>
            <a:pPr marL="457200" lvl="1" indent="0">
              <a:buNone/>
            </a:pPr>
            <a:r>
              <a:rPr lang="en-IN" sz="1800" b="1" dirty="0"/>
              <a:t>private</a:t>
            </a:r>
            <a:r>
              <a:rPr lang="en-IN" sz="1800" dirty="0"/>
              <a:t> Long id;</a:t>
            </a:r>
          </a:p>
          <a:p>
            <a:pPr marL="457200" lvl="1" indent="0">
              <a:buNone/>
            </a:pPr>
            <a:r>
              <a:rPr lang="en-IN" sz="1800" b="1" dirty="0"/>
              <a:t>private</a:t>
            </a:r>
            <a:r>
              <a:rPr lang="en-IN" sz="1800" dirty="0"/>
              <a:t> String username;</a:t>
            </a:r>
          </a:p>
          <a:p>
            <a:pPr marL="457200" lvl="1" indent="0">
              <a:buNone/>
            </a:pPr>
            <a:r>
              <a:rPr lang="en-IN" sz="1800" b="1" dirty="0"/>
              <a:t>private</a:t>
            </a:r>
            <a:r>
              <a:rPr lang="en-IN" sz="1800" dirty="0"/>
              <a:t> String password;</a:t>
            </a:r>
          </a:p>
          <a:p>
            <a:pPr marL="457200" lvl="1" indent="0">
              <a:buNone/>
            </a:pPr>
            <a:r>
              <a:rPr lang="en-IN" sz="1800" b="1" dirty="0"/>
              <a:t>private</a:t>
            </a:r>
            <a:r>
              <a:rPr lang="en-IN" sz="1800" dirty="0"/>
              <a:t> String role;</a:t>
            </a:r>
          </a:p>
          <a:p>
            <a:pPr marL="800100" lvl="2" indent="0">
              <a:buNone/>
            </a:pPr>
            <a:r>
              <a:rPr lang="en-IN" sz="1800" b="1" dirty="0"/>
              <a:t>}</a:t>
            </a:r>
          </a:p>
          <a:p>
            <a:pPr marL="400050" lvl="1" indent="0">
              <a:buNone/>
            </a:pPr>
            <a:r>
              <a:rPr lang="en-IN" sz="1800" b="1" dirty="0">
                <a:latin typeface="Arial" panose="020B0604020202020204" pitchFamily="34" charset="0"/>
              </a:rPr>
              <a:t>public</a:t>
            </a:r>
            <a:r>
              <a:rPr lang="en-IN" sz="1800" dirty="0">
                <a:latin typeface="Arial" panose="020B0604020202020204" pitchFamily="34" charset="0"/>
              </a:rPr>
              <a:t> </a:t>
            </a:r>
            <a:r>
              <a:rPr lang="en-IN" sz="1800" b="1" dirty="0">
                <a:latin typeface="Arial" panose="020B0604020202020204" pitchFamily="34" charset="0"/>
              </a:rPr>
              <a:t>interface</a:t>
            </a:r>
            <a:r>
              <a:rPr lang="en-IN" sz="1800" dirty="0">
                <a:latin typeface="Arial" panose="020B0604020202020204" pitchFamily="34" charset="0"/>
              </a:rPr>
              <a:t> </a:t>
            </a:r>
            <a:r>
              <a:rPr lang="en-IN" sz="1800" dirty="0" err="1">
                <a:latin typeface="Arial" panose="020B0604020202020204" pitchFamily="34" charset="0"/>
              </a:rPr>
              <a:t>UserRepository</a:t>
            </a:r>
            <a:r>
              <a:rPr lang="en-IN" sz="1800" dirty="0">
                <a:latin typeface="Arial" panose="020B0604020202020204" pitchFamily="34" charset="0"/>
              </a:rPr>
              <a:t> </a:t>
            </a:r>
            <a:r>
              <a:rPr lang="en-IN" sz="1800" b="1" dirty="0">
                <a:latin typeface="Arial" panose="020B0604020202020204" pitchFamily="34" charset="0"/>
              </a:rPr>
              <a:t>extends </a:t>
            </a:r>
            <a:r>
              <a:rPr lang="en-IN" sz="1800" dirty="0" err="1">
                <a:latin typeface="Arial" panose="020B0604020202020204" pitchFamily="34" charset="0"/>
              </a:rPr>
              <a:t>JpaRepository</a:t>
            </a:r>
            <a:r>
              <a:rPr lang="en-IN" sz="1800" dirty="0">
                <a:latin typeface="Arial" panose="020B0604020202020204" pitchFamily="34" charset="0"/>
              </a:rPr>
              <a:t>&lt;</a:t>
            </a:r>
            <a:r>
              <a:rPr lang="en-IN" sz="1800" dirty="0" err="1">
                <a:latin typeface="Arial" panose="020B0604020202020204" pitchFamily="34" charset="0"/>
              </a:rPr>
              <a:t>UserEntity</a:t>
            </a:r>
            <a:r>
              <a:rPr lang="en-IN" sz="1800" dirty="0">
                <a:latin typeface="Arial" panose="020B0604020202020204" pitchFamily="34" charset="0"/>
              </a:rPr>
              <a:t> ,Long&gt; {</a:t>
            </a:r>
          </a:p>
          <a:p>
            <a:pPr marL="400050" lvl="1" indent="0">
              <a:buNone/>
            </a:pPr>
            <a:endParaRPr lang="en-IN" sz="1800" dirty="0">
              <a:latin typeface="Arial" panose="020B0604020202020204" pitchFamily="34" charset="0"/>
            </a:endParaRPr>
          </a:p>
          <a:p>
            <a:pPr marL="400050" lvl="1" indent="0">
              <a:buNone/>
            </a:pPr>
            <a:r>
              <a:rPr lang="en-IN" sz="1800" dirty="0">
                <a:latin typeface="Arial" panose="020B0604020202020204" pitchFamily="34" charset="0"/>
              </a:rPr>
              <a:t>  Optional&lt;</a:t>
            </a:r>
            <a:r>
              <a:rPr lang="en-IN" sz="1800" dirty="0" err="1">
                <a:latin typeface="Arial" panose="020B0604020202020204" pitchFamily="34" charset="0"/>
              </a:rPr>
              <a:t>UserEntity</a:t>
            </a:r>
            <a:r>
              <a:rPr lang="en-IN" sz="1800" dirty="0">
                <a:latin typeface="Arial" panose="020B0604020202020204" pitchFamily="34" charset="0"/>
              </a:rPr>
              <a:t>&gt; </a:t>
            </a:r>
            <a:r>
              <a:rPr lang="en-IN" sz="1800" dirty="0" err="1">
                <a:latin typeface="Arial" panose="020B0604020202020204" pitchFamily="34" charset="0"/>
              </a:rPr>
              <a:t>findByUsername</a:t>
            </a:r>
            <a:r>
              <a:rPr lang="en-IN" sz="1800" dirty="0">
                <a:latin typeface="Arial" panose="020B0604020202020204" pitchFamily="34" charset="0"/>
              </a:rPr>
              <a:t>(String username);</a:t>
            </a:r>
          </a:p>
          <a:p>
            <a:pPr marL="400050" lvl="1" indent="0">
              <a:buNone/>
            </a:pPr>
            <a:r>
              <a:rPr lang="en-IN" sz="1800" dirty="0">
                <a:latin typeface="Arial" panose="020B0604020202020204" pitchFamily="34" charset="0"/>
              </a:rPr>
              <a:t>}</a:t>
            </a:r>
          </a:p>
          <a:p>
            <a:endParaRPr lang="en-IN" alt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4F9A8-BFD9-F1D1-CCE1-FB4BF01BF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Details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59225-D544-4D48-86DF-93FE2ED4E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/>
              <a:t>Key Interface used for user authentication. </a:t>
            </a:r>
          </a:p>
          <a:p>
            <a:r>
              <a:rPr lang="en-IN" sz="1800" dirty="0"/>
              <a:t>Has One Method</a:t>
            </a:r>
          </a:p>
          <a:p>
            <a:endParaRPr lang="en-IN" sz="1800" dirty="0"/>
          </a:p>
          <a:p>
            <a:pPr marL="457200" lvl="1" indent="0">
              <a:buNone/>
            </a:pPr>
            <a:r>
              <a:rPr lang="en-IN" sz="1800" dirty="0" err="1">
                <a:solidFill>
                  <a:srgbClr val="C00000"/>
                </a:solidFill>
              </a:rPr>
              <a:t>UserDetails</a:t>
            </a:r>
            <a:r>
              <a:rPr lang="en-IN" sz="1800" dirty="0">
                <a:solidFill>
                  <a:srgbClr val="C00000"/>
                </a:solidFill>
              </a:rPr>
              <a:t> </a:t>
            </a:r>
            <a:r>
              <a:rPr lang="en-IN" sz="1800" dirty="0" err="1">
                <a:solidFill>
                  <a:srgbClr val="C00000"/>
                </a:solidFill>
              </a:rPr>
              <a:t>loadUserByUsername</a:t>
            </a:r>
            <a:r>
              <a:rPr lang="en-IN" sz="1800" dirty="0">
                <a:solidFill>
                  <a:srgbClr val="C00000"/>
                </a:solidFill>
              </a:rPr>
              <a:t>(String username) </a:t>
            </a:r>
          </a:p>
          <a:p>
            <a:endParaRPr lang="en-IN" sz="1800" b="1" dirty="0"/>
          </a:p>
          <a:p>
            <a:r>
              <a:rPr lang="en-IN" sz="1800" dirty="0"/>
              <a:t> </a:t>
            </a:r>
            <a:r>
              <a:rPr lang="en-IN" sz="1800" dirty="0" err="1"/>
              <a:t>UserDetails</a:t>
            </a:r>
            <a:r>
              <a:rPr lang="en-IN" sz="1800" dirty="0"/>
              <a:t> </a:t>
            </a:r>
          </a:p>
          <a:p>
            <a:pPr lvl="1"/>
            <a:r>
              <a:rPr lang="en-IN" sz="2000" dirty="0"/>
              <a:t>Encapsulates username, password, authorities (roles), and account status (enabled, locked, expired).</a:t>
            </a:r>
          </a:p>
          <a:p>
            <a:pPr marL="0" indent="0">
              <a:buNone/>
            </a:pPr>
            <a:endParaRPr lang="en-IN" sz="1800" dirty="0"/>
          </a:p>
          <a:p>
            <a:r>
              <a:rPr lang="en-IN" sz="1800" dirty="0"/>
              <a:t>Called by </a:t>
            </a:r>
            <a:r>
              <a:rPr lang="en-IN" sz="1800" dirty="0" err="1"/>
              <a:t>AuthenticationProvider</a:t>
            </a:r>
            <a:r>
              <a:rPr lang="en-IN" sz="1800" dirty="0"/>
              <a:t> to obtain the necessary user information for authentication.</a:t>
            </a:r>
          </a:p>
          <a:p>
            <a:endParaRPr lang="en-IN" sz="1800" dirty="0"/>
          </a:p>
          <a:p>
            <a:r>
              <a:rPr lang="en-IN" sz="1800" dirty="0"/>
              <a:t>Method should throw a </a:t>
            </a:r>
            <a:r>
              <a:rPr lang="en-IN" sz="1800" dirty="0" err="1"/>
              <a:t>UsernameNotFoundException</a:t>
            </a:r>
            <a:r>
              <a:rPr lang="en-IN" sz="1800" dirty="0"/>
              <a:t>.</a:t>
            </a:r>
            <a:br>
              <a:rPr lang="en-IN" sz="1800" dirty="0"/>
            </a:br>
            <a:endParaRPr lang="en-IN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732478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34780-826E-ED1C-0405-B5FA542B7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Details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AB0AD-2EB2-3811-CF8C-48F30D5C8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68364"/>
            <a:ext cx="8229600" cy="5257800"/>
          </a:xfrm>
        </p:spPr>
        <p:txBody>
          <a:bodyPr/>
          <a:lstStyle/>
          <a:p>
            <a:pPr marL="857250" lvl="2" indent="0">
              <a:buNone/>
            </a:pPr>
            <a:r>
              <a:rPr lang="en-IN" sz="1800" dirty="0"/>
              <a:t>@Service</a:t>
            </a:r>
          </a:p>
          <a:p>
            <a:pPr marL="857250" lvl="2" indent="0">
              <a:buNone/>
            </a:pPr>
            <a:endParaRPr lang="en-IN" sz="1800" dirty="0"/>
          </a:p>
          <a:p>
            <a:pPr marL="457200" lvl="1" indent="0">
              <a:buNone/>
            </a:pPr>
            <a:r>
              <a:rPr lang="en-IN" sz="2000" b="1" dirty="0"/>
              <a:t>public</a:t>
            </a:r>
            <a:r>
              <a:rPr lang="en-IN" sz="2000" dirty="0"/>
              <a:t> </a:t>
            </a:r>
            <a:r>
              <a:rPr lang="en-IN" sz="2000" b="1" dirty="0"/>
              <a:t>class</a:t>
            </a:r>
            <a:r>
              <a:rPr lang="en-IN" sz="2000" dirty="0"/>
              <a:t> </a:t>
            </a:r>
            <a:r>
              <a:rPr lang="en-IN" sz="2000" dirty="0" err="1"/>
              <a:t>UserDetailServiceImpl</a:t>
            </a:r>
            <a:r>
              <a:rPr lang="en-IN" sz="2000" dirty="0"/>
              <a:t> </a:t>
            </a:r>
            <a:r>
              <a:rPr lang="en-IN" sz="2000" b="1" dirty="0"/>
              <a:t>implements</a:t>
            </a:r>
            <a:r>
              <a:rPr lang="en-IN" sz="2000" dirty="0"/>
              <a:t>   	</a:t>
            </a:r>
            <a:r>
              <a:rPr lang="en-IN" sz="2000" dirty="0" err="1"/>
              <a:t>UserDetailsService</a:t>
            </a:r>
            <a:r>
              <a:rPr lang="en-IN" sz="2000" dirty="0"/>
              <a:t> {</a:t>
            </a:r>
            <a:endParaRPr lang="en-IN" sz="2000" b="1" dirty="0"/>
          </a:p>
          <a:p>
            <a:pPr marL="857250" lvl="2" indent="0">
              <a:buNone/>
            </a:pPr>
            <a:endParaRPr lang="en-IN" sz="1800" dirty="0"/>
          </a:p>
          <a:p>
            <a:pPr marL="457200" lvl="1" indent="0">
              <a:buNone/>
            </a:pPr>
            <a:r>
              <a:rPr lang="en-IN" sz="1800" b="1" dirty="0"/>
              <a:t>private</a:t>
            </a:r>
            <a:r>
              <a:rPr lang="en-IN" sz="1800" dirty="0"/>
              <a:t> </a:t>
            </a:r>
            <a:r>
              <a:rPr lang="en-IN" sz="1800" b="1" dirty="0"/>
              <a:t>final</a:t>
            </a:r>
            <a:r>
              <a:rPr lang="en-IN" sz="1800" dirty="0"/>
              <a:t> </a:t>
            </a:r>
            <a:r>
              <a:rPr lang="en-IN" sz="1800" dirty="0" err="1"/>
              <a:t>UserRepository</a:t>
            </a:r>
            <a:r>
              <a:rPr lang="en-IN" sz="1800" dirty="0"/>
              <a:t> </a:t>
            </a:r>
            <a:r>
              <a:rPr lang="en-IN" sz="1800" dirty="0" err="1"/>
              <a:t>userRepository</a:t>
            </a:r>
            <a:r>
              <a:rPr lang="en-IN" sz="1800" dirty="0"/>
              <a:t>;</a:t>
            </a:r>
          </a:p>
          <a:p>
            <a:pPr marL="457200" lvl="1" indent="0">
              <a:buNone/>
            </a:pPr>
            <a:r>
              <a:rPr lang="en-IN" sz="1800" b="1" dirty="0"/>
              <a:t>private</a:t>
            </a:r>
            <a:r>
              <a:rPr lang="en-IN" sz="1800" dirty="0"/>
              <a:t> </a:t>
            </a:r>
            <a:r>
              <a:rPr lang="en-IN" sz="1800" b="1" dirty="0"/>
              <a:t>final</a:t>
            </a:r>
            <a:r>
              <a:rPr lang="en-IN" sz="1800" dirty="0"/>
              <a:t> </a:t>
            </a:r>
            <a:r>
              <a:rPr lang="en-IN" sz="1800" dirty="0" err="1"/>
              <a:t>BCryptPasswordEncoder</a:t>
            </a:r>
            <a:r>
              <a:rPr lang="en-IN" sz="1800" dirty="0"/>
              <a:t> </a:t>
            </a:r>
            <a:r>
              <a:rPr lang="en-IN" sz="1800" dirty="0" err="1"/>
              <a:t>passwordEncoder</a:t>
            </a:r>
            <a:r>
              <a:rPr lang="en-IN" sz="1800" dirty="0"/>
              <a:t>;</a:t>
            </a:r>
          </a:p>
          <a:p>
            <a:pPr marL="457200" lvl="1" indent="0">
              <a:buNone/>
            </a:pPr>
            <a:br>
              <a:rPr lang="en-IN" sz="1800" dirty="0"/>
            </a:br>
            <a:endParaRPr lang="en-IN" sz="1800" dirty="0"/>
          </a:p>
          <a:p>
            <a:pPr marL="457200" lvl="1" indent="0">
              <a:buNone/>
            </a:pPr>
            <a:r>
              <a:rPr lang="en-IN" sz="1800" b="1" dirty="0"/>
              <a:t>public</a:t>
            </a:r>
            <a:r>
              <a:rPr lang="en-IN" sz="1800" dirty="0"/>
              <a:t> </a:t>
            </a:r>
            <a:r>
              <a:rPr lang="en-IN" sz="1800" dirty="0" err="1"/>
              <a:t>UserServiceImpl</a:t>
            </a:r>
            <a:r>
              <a:rPr lang="en-IN" sz="1800" dirty="0"/>
              <a:t>(</a:t>
            </a:r>
            <a:r>
              <a:rPr lang="en-IN" sz="1800" dirty="0" err="1"/>
              <a:t>UserRepository</a:t>
            </a:r>
            <a:r>
              <a:rPr lang="en-IN" sz="1800" dirty="0"/>
              <a:t> </a:t>
            </a:r>
            <a:r>
              <a:rPr lang="en-IN" sz="1800" dirty="0" err="1"/>
              <a:t>userRepository</a:t>
            </a:r>
            <a:r>
              <a:rPr lang="en-IN" sz="1800" dirty="0"/>
              <a:t>, </a:t>
            </a:r>
            <a:r>
              <a:rPr lang="en-IN" sz="1800" dirty="0" err="1"/>
              <a:t>BCryptPasswordEncoder</a:t>
            </a:r>
            <a:r>
              <a:rPr lang="en-IN" sz="1800" dirty="0"/>
              <a:t> </a:t>
            </a:r>
            <a:r>
              <a:rPr lang="en-IN" sz="1800" dirty="0" err="1"/>
              <a:t>passwordEncoder</a:t>
            </a:r>
            <a:r>
              <a:rPr lang="en-IN" sz="1800" dirty="0"/>
              <a:t>)  {</a:t>
            </a:r>
          </a:p>
          <a:p>
            <a:pPr marL="457200" lvl="1" indent="0">
              <a:buNone/>
            </a:pPr>
            <a:r>
              <a:rPr lang="en-IN" sz="1800" b="1" dirty="0" err="1"/>
              <a:t>this</a:t>
            </a:r>
            <a:r>
              <a:rPr lang="en-IN" sz="1800" dirty="0" err="1"/>
              <a:t>.userRepository</a:t>
            </a:r>
            <a:r>
              <a:rPr lang="en-IN" sz="1800" dirty="0"/>
              <a:t> = </a:t>
            </a:r>
            <a:r>
              <a:rPr lang="en-IN" sz="1800" dirty="0" err="1"/>
              <a:t>userRepository</a:t>
            </a:r>
            <a:r>
              <a:rPr lang="en-IN" sz="1800" dirty="0"/>
              <a:t>;</a:t>
            </a:r>
          </a:p>
          <a:p>
            <a:pPr marL="457200" lvl="1" indent="0">
              <a:buNone/>
            </a:pPr>
            <a:r>
              <a:rPr lang="en-IN" sz="1800" b="1" dirty="0" err="1"/>
              <a:t>this</a:t>
            </a:r>
            <a:r>
              <a:rPr lang="en-IN" sz="1800" dirty="0" err="1"/>
              <a:t>.passwordEncoder</a:t>
            </a:r>
            <a:r>
              <a:rPr lang="en-IN" sz="1800" dirty="0"/>
              <a:t> = </a:t>
            </a:r>
            <a:r>
              <a:rPr lang="en-IN" sz="1800" dirty="0" err="1"/>
              <a:t>passwordEncoder</a:t>
            </a:r>
            <a:r>
              <a:rPr lang="en-IN" sz="1800" dirty="0"/>
              <a:t>;</a:t>
            </a:r>
          </a:p>
          <a:p>
            <a:pPr marL="457200" lvl="1" indent="0">
              <a:buNone/>
            </a:pPr>
            <a:r>
              <a:rPr lang="en-IN" sz="1800" dirty="0"/>
              <a:t>}</a:t>
            </a:r>
          </a:p>
          <a:p>
            <a:pPr marL="914400" lvl="2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385127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0F025-DCAC-0FBE-BFC4-CB08FFFD6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427037"/>
          </a:xfrm>
        </p:spPr>
        <p:txBody>
          <a:bodyPr/>
          <a:lstStyle/>
          <a:p>
            <a:r>
              <a:rPr lang="en-US" dirty="0"/>
              <a:t>User Details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19574-51BC-47CE-CDCB-24765A274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31838"/>
            <a:ext cx="8229600" cy="5394326"/>
          </a:xfrm>
        </p:spPr>
        <p:txBody>
          <a:bodyPr/>
          <a:lstStyle/>
          <a:p>
            <a:pPr marL="457200" lvl="1" indent="0">
              <a:buNone/>
            </a:pPr>
            <a:r>
              <a:rPr lang="en-IN" b="1" dirty="0"/>
              <a:t>public</a:t>
            </a:r>
            <a:r>
              <a:rPr lang="en-IN" dirty="0"/>
              <a:t> </a:t>
            </a:r>
            <a:r>
              <a:rPr lang="en-IN" b="1" dirty="0"/>
              <a:t>void</a:t>
            </a:r>
            <a:r>
              <a:rPr lang="en-IN" dirty="0"/>
              <a:t> </a:t>
            </a:r>
            <a:r>
              <a:rPr lang="en-IN" dirty="0" err="1"/>
              <a:t>registerNewUser</a:t>
            </a:r>
            <a:r>
              <a:rPr lang="en-IN" dirty="0"/>
              <a:t>(</a:t>
            </a:r>
            <a:r>
              <a:rPr lang="en-IN" dirty="0" err="1"/>
              <a:t>RegistrationRequest</a:t>
            </a:r>
            <a:r>
              <a:rPr lang="en-IN" dirty="0"/>
              <a:t> request) </a:t>
            </a:r>
            <a:r>
              <a:rPr lang="en-IN" b="1" dirty="0"/>
              <a:t>throws</a:t>
            </a:r>
            <a:r>
              <a:rPr lang="en-IN" dirty="0"/>
              <a:t> </a:t>
            </a:r>
            <a:r>
              <a:rPr lang="en-IN" dirty="0" err="1"/>
              <a:t>UserAlreadyExistsException</a:t>
            </a:r>
            <a:r>
              <a:rPr lang="en-IN" dirty="0"/>
              <a:t> {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IN" b="1" dirty="0"/>
              <a:t>if</a:t>
            </a:r>
            <a:r>
              <a:rPr lang="en-IN" dirty="0"/>
              <a:t> (</a:t>
            </a:r>
            <a:r>
              <a:rPr lang="en-IN" dirty="0" err="1"/>
              <a:t>userRepository.existsByUsername</a:t>
            </a:r>
            <a:r>
              <a:rPr lang="en-IN" dirty="0"/>
              <a:t>(</a:t>
            </a:r>
            <a:r>
              <a:rPr lang="en-IN" dirty="0" err="1"/>
              <a:t>request.username</a:t>
            </a:r>
            <a:r>
              <a:rPr lang="en-IN" dirty="0"/>
              <a:t>())) {</a:t>
            </a:r>
          </a:p>
          <a:p>
            <a:pPr marL="457200" lvl="1" indent="0">
              <a:buNone/>
            </a:pPr>
            <a:r>
              <a:rPr lang="en-IN" b="1" dirty="0"/>
              <a:t>   throw</a:t>
            </a:r>
            <a:r>
              <a:rPr lang="en-IN" dirty="0"/>
              <a:t> </a:t>
            </a:r>
            <a:r>
              <a:rPr lang="en-IN" b="1" dirty="0"/>
              <a:t>new</a:t>
            </a:r>
            <a:r>
              <a:rPr lang="en-IN" dirty="0"/>
              <a:t> </a:t>
            </a:r>
            <a:r>
              <a:rPr lang="en-IN" dirty="0" err="1"/>
              <a:t>UserAlreadyExistsException</a:t>
            </a:r>
            <a:r>
              <a:rPr lang="en-IN" dirty="0"/>
              <a:t>("Username is already taken!");</a:t>
            </a:r>
          </a:p>
          <a:p>
            <a:pPr marL="457200" lvl="1" indent="0">
              <a:buNone/>
            </a:pPr>
            <a:r>
              <a:rPr lang="en-IN" dirty="0"/>
              <a:t>}</a:t>
            </a:r>
          </a:p>
          <a:p>
            <a:pPr marL="457200" lvl="1" indent="0">
              <a:buNone/>
            </a:pPr>
            <a:r>
              <a:rPr lang="en-IN" b="1" dirty="0"/>
              <a:t>if</a:t>
            </a:r>
            <a:r>
              <a:rPr lang="en-IN" dirty="0"/>
              <a:t> (</a:t>
            </a:r>
            <a:r>
              <a:rPr lang="en-IN" dirty="0" err="1"/>
              <a:t>userRepository.existsByEmail</a:t>
            </a:r>
            <a:r>
              <a:rPr lang="en-IN" dirty="0"/>
              <a:t>(</a:t>
            </a:r>
            <a:r>
              <a:rPr lang="en-IN" dirty="0" err="1"/>
              <a:t>request.email</a:t>
            </a:r>
            <a:r>
              <a:rPr lang="en-IN" dirty="0"/>
              <a:t>())) {</a:t>
            </a:r>
          </a:p>
          <a:p>
            <a:pPr marL="457200" lvl="1" indent="0">
              <a:buNone/>
            </a:pPr>
            <a:r>
              <a:rPr lang="en-IN" b="1" dirty="0"/>
              <a:t>  throw</a:t>
            </a:r>
            <a:r>
              <a:rPr lang="en-IN" dirty="0"/>
              <a:t> </a:t>
            </a:r>
            <a:r>
              <a:rPr lang="en-IN" b="1" dirty="0"/>
              <a:t>new</a:t>
            </a:r>
            <a:r>
              <a:rPr lang="en-IN" dirty="0"/>
              <a:t> </a:t>
            </a:r>
            <a:r>
              <a:rPr lang="en-IN" dirty="0" err="1"/>
              <a:t>UserAlreadyExistsException</a:t>
            </a:r>
            <a:r>
              <a:rPr lang="en-IN" dirty="0"/>
              <a:t>("Email is already in use!");</a:t>
            </a:r>
          </a:p>
          <a:p>
            <a:pPr marL="457200" lvl="1" indent="0">
              <a:buNone/>
            </a:pPr>
            <a:r>
              <a:rPr lang="en-IN" dirty="0"/>
              <a:t>}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IN" dirty="0" err="1"/>
              <a:t>WebUser</a:t>
            </a:r>
            <a:r>
              <a:rPr lang="en-IN" dirty="0"/>
              <a:t> user = </a:t>
            </a:r>
            <a:r>
              <a:rPr lang="en-IN" b="1" dirty="0"/>
              <a:t>new</a:t>
            </a:r>
            <a:r>
              <a:rPr lang="en-IN" dirty="0"/>
              <a:t> </a:t>
            </a:r>
            <a:r>
              <a:rPr lang="en-IN" dirty="0" err="1"/>
              <a:t>WebUser</a:t>
            </a:r>
            <a:r>
              <a:rPr lang="en-IN" dirty="0"/>
              <a:t>();</a:t>
            </a:r>
          </a:p>
          <a:p>
            <a:pPr marL="857250" lvl="2" indent="0">
              <a:buNone/>
            </a:pPr>
            <a:r>
              <a:rPr lang="en-IN" dirty="0" err="1"/>
              <a:t>user.setUsername</a:t>
            </a:r>
            <a:r>
              <a:rPr lang="en-IN" dirty="0"/>
              <a:t>(</a:t>
            </a:r>
            <a:r>
              <a:rPr lang="en-IN" dirty="0" err="1"/>
              <a:t>request.username</a:t>
            </a:r>
            <a:r>
              <a:rPr lang="en-IN" dirty="0"/>
              <a:t>());</a:t>
            </a:r>
          </a:p>
          <a:p>
            <a:pPr marL="857250" lvl="2" indent="0">
              <a:buNone/>
            </a:pPr>
            <a:r>
              <a:rPr lang="en-IN" dirty="0" err="1"/>
              <a:t>user.setEmail</a:t>
            </a:r>
            <a:r>
              <a:rPr lang="en-IN" dirty="0"/>
              <a:t>(</a:t>
            </a:r>
            <a:r>
              <a:rPr lang="en-IN" dirty="0" err="1"/>
              <a:t>request.email</a:t>
            </a:r>
            <a:r>
              <a:rPr lang="en-IN" dirty="0"/>
              <a:t>());</a:t>
            </a:r>
          </a:p>
          <a:p>
            <a:pPr marL="857250" lvl="2" indent="0">
              <a:buNone/>
            </a:pPr>
            <a:r>
              <a:rPr lang="en-IN" dirty="0" err="1"/>
              <a:t>user.setPassword</a:t>
            </a:r>
            <a:r>
              <a:rPr lang="en-IN" dirty="0"/>
              <a:t>(</a:t>
            </a:r>
            <a:r>
              <a:rPr lang="en-IN" dirty="0" err="1"/>
              <a:t>passwordEncoder.encode</a:t>
            </a:r>
            <a:r>
              <a:rPr lang="en-IN" dirty="0"/>
              <a:t>(</a:t>
            </a:r>
            <a:r>
              <a:rPr lang="en-IN" dirty="0" err="1"/>
              <a:t>request.password</a:t>
            </a:r>
            <a:r>
              <a:rPr lang="en-IN" dirty="0"/>
              <a:t>())); </a:t>
            </a:r>
          </a:p>
          <a:p>
            <a:pPr marL="857250" lvl="2" indent="0">
              <a:buNone/>
            </a:pPr>
            <a:r>
              <a:rPr lang="en-IN" dirty="0" err="1"/>
              <a:t>user.setRole</a:t>
            </a:r>
            <a:r>
              <a:rPr lang="en-IN" dirty="0"/>
              <a:t>(</a:t>
            </a:r>
            <a:r>
              <a:rPr lang="en-IN" dirty="0" err="1"/>
              <a:t>request.role</a:t>
            </a:r>
            <a:r>
              <a:rPr lang="en-IN" dirty="0"/>
              <a:t>());</a:t>
            </a:r>
          </a:p>
          <a:p>
            <a:pPr marL="457200" lvl="1" indent="0">
              <a:buNone/>
            </a:pPr>
            <a:r>
              <a:rPr lang="en-IN" dirty="0" err="1"/>
              <a:t>userRepository.save</a:t>
            </a:r>
            <a:r>
              <a:rPr lang="en-IN" dirty="0"/>
              <a:t>(user);</a:t>
            </a:r>
          </a:p>
          <a:p>
            <a:pPr marL="457200" lvl="1" indent="0">
              <a:buNone/>
            </a:pPr>
            <a:r>
              <a:rPr lang="en-IN" dirty="0"/>
              <a:t>}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5076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73E81-0A4F-D180-CEDD-14912183E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Details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5218D-C888-8D9D-790C-8C6BD6433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IN" dirty="0"/>
              <a:t>@Override</a:t>
            </a:r>
          </a:p>
          <a:p>
            <a:pPr marL="457200" lvl="1" indent="0">
              <a:buNone/>
            </a:pPr>
            <a:r>
              <a:rPr lang="en-IN" dirty="0"/>
              <a:t>@Transactional(</a:t>
            </a:r>
            <a:r>
              <a:rPr lang="en-IN" dirty="0" err="1"/>
              <a:t>readOnly</a:t>
            </a:r>
            <a:r>
              <a:rPr lang="en-IN" dirty="0"/>
              <a:t> = </a:t>
            </a:r>
            <a:r>
              <a:rPr lang="en-IN" b="1" dirty="0"/>
              <a:t>true</a:t>
            </a:r>
            <a:r>
              <a:rPr lang="en-IN" dirty="0"/>
              <a:t>)</a:t>
            </a:r>
          </a:p>
          <a:p>
            <a:pPr marL="457200" lvl="1" indent="0">
              <a:buNone/>
            </a:pPr>
            <a:r>
              <a:rPr lang="en-IN" b="1" dirty="0"/>
              <a:t>public</a:t>
            </a:r>
            <a:r>
              <a:rPr lang="en-IN" dirty="0"/>
              <a:t> </a:t>
            </a:r>
            <a:r>
              <a:rPr lang="en-IN" dirty="0" err="1"/>
              <a:t>UserDetails</a:t>
            </a:r>
            <a:r>
              <a:rPr lang="en-IN" dirty="0"/>
              <a:t> </a:t>
            </a:r>
            <a:r>
              <a:rPr lang="en-IN" dirty="0" err="1"/>
              <a:t>loadUserByUsername</a:t>
            </a:r>
            <a:r>
              <a:rPr lang="en-IN" dirty="0"/>
              <a:t>(String username) </a:t>
            </a:r>
            <a:r>
              <a:rPr lang="en-IN" b="1" dirty="0"/>
              <a:t>throws</a:t>
            </a:r>
            <a:r>
              <a:rPr lang="en-IN" dirty="0"/>
              <a:t> </a:t>
            </a:r>
            <a:r>
              <a:rPr lang="en-IN" dirty="0" err="1"/>
              <a:t>UsernameNotFoundException</a:t>
            </a:r>
            <a:r>
              <a:rPr lang="en-IN" dirty="0"/>
              <a:t> {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IN" dirty="0" err="1"/>
              <a:t>WebUser</a:t>
            </a:r>
            <a:r>
              <a:rPr lang="en-IN" dirty="0"/>
              <a:t> </a:t>
            </a:r>
            <a:r>
              <a:rPr lang="en-IN" dirty="0" err="1"/>
              <a:t>portalUser</a:t>
            </a:r>
            <a:r>
              <a:rPr lang="en-IN" dirty="0"/>
              <a:t> = </a:t>
            </a:r>
            <a:r>
              <a:rPr lang="en-IN" dirty="0" err="1"/>
              <a:t>userRepository.findByUsername</a:t>
            </a:r>
            <a:r>
              <a:rPr lang="en-IN" dirty="0"/>
              <a:t>(username)</a:t>
            </a:r>
          </a:p>
          <a:p>
            <a:pPr marL="457200" lvl="1" indent="0">
              <a:buNone/>
            </a:pPr>
            <a:r>
              <a:rPr lang="en-IN" dirty="0"/>
              <a:t>.</a:t>
            </a:r>
            <a:r>
              <a:rPr lang="en-IN" dirty="0" err="1"/>
              <a:t>orElseThrow</a:t>
            </a:r>
            <a:r>
              <a:rPr lang="en-IN" dirty="0"/>
              <a:t>(() -&gt; </a:t>
            </a:r>
            <a:r>
              <a:rPr lang="en-IN" b="1" dirty="0"/>
              <a:t>new</a:t>
            </a:r>
            <a:r>
              <a:rPr lang="en-IN" dirty="0"/>
              <a:t> </a:t>
            </a:r>
            <a:r>
              <a:rPr lang="en-IN" dirty="0" err="1"/>
              <a:t>UsernameNotFoundException</a:t>
            </a:r>
            <a:r>
              <a:rPr lang="en-IN" dirty="0"/>
              <a:t>("User Not Found: " + username));</a:t>
            </a:r>
          </a:p>
          <a:p>
            <a:pPr marL="457200" lvl="1" indent="0">
              <a:buNone/>
            </a:pPr>
            <a:br>
              <a:rPr lang="en-IN" dirty="0"/>
            </a:br>
            <a:endParaRPr lang="en-IN" dirty="0"/>
          </a:p>
          <a:p>
            <a:pPr marL="457200" lvl="1" indent="0">
              <a:buNone/>
            </a:pPr>
            <a:r>
              <a:rPr lang="en-IN" b="1" dirty="0"/>
              <a:t>return</a:t>
            </a:r>
            <a:r>
              <a:rPr lang="en-IN" dirty="0"/>
              <a:t> </a:t>
            </a:r>
            <a:r>
              <a:rPr lang="en-IN" dirty="0" err="1"/>
              <a:t>User.</a:t>
            </a:r>
            <a:r>
              <a:rPr lang="en-IN" i="1" dirty="0" err="1"/>
              <a:t>builder</a:t>
            </a:r>
            <a:r>
              <a:rPr lang="en-IN" dirty="0"/>
              <a:t>()</a:t>
            </a:r>
          </a:p>
          <a:p>
            <a:pPr marL="457200" lvl="1" indent="0">
              <a:buNone/>
            </a:pPr>
            <a:r>
              <a:rPr lang="en-IN" dirty="0"/>
              <a:t>.username(</a:t>
            </a:r>
            <a:r>
              <a:rPr lang="en-IN" dirty="0" err="1"/>
              <a:t>portalUser.getUsername</a:t>
            </a:r>
            <a:r>
              <a:rPr lang="en-IN" dirty="0"/>
              <a:t>())</a:t>
            </a:r>
          </a:p>
          <a:p>
            <a:pPr marL="457200" lvl="1" indent="0">
              <a:buNone/>
            </a:pPr>
            <a:r>
              <a:rPr lang="en-IN" dirty="0"/>
              <a:t>.password(</a:t>
            </a:r>
            <a:r>
              <a:rPr lang="en-IN" dirty="0" err="1"/>
              <a:t>portalUser.getPassword</a:t>
            </a:r>
            <a:r>
              <a:rPr lang="en-IN" dirty="0"/>
              <a:t>())</a:t>
            </a:r>
          </a:p>
          <a:p>
            <a:pPr marL="457200" lvl="1" indent="0">
              <a:buNone/>
            </a:pPr>
            <a:r>
              <a:rPr lang="en-IN" dirty="0"/>
              <a:t>.roles(</a:t>
            </a:r>
            <a:r>
              <a:rPr lang="en-IN" dirty="0" err="1"/>
              <a:t>portalUser.getRole</a:t>
            </a:r>
            <a:r>
              <a:rPr lang="en-IN" dirty="0"/>
              <a:t>()) </a:t>
            </a:r>
          </a:p>
          <a:p>
            <a:pPr marL="457200" lvl="1" indent="0">
              <a:buNone/>
            </a:pPr>
            <a:r>
              <a:rPr lang="en-IN" dirty="0"/>
              <a:t>.build();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IN" dirty="0"/>
              <a:t>}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4101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78CD31-931B-DB52-C628-0F2126636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Spring actuator</a:t>
            </a:r>
          </a:p>
        </p:txBody>
      </p:sp>
      <p:sp>
        <p:nvSpPr>
          <p:cNvPr id="94210" name="Text Placeholder 4">
            <a:extLst>
              <a:ext uri="{FF2B5EF4-FFF2-40B4-BE49-F238E27FC236}">
                <a16:creationId xmlns:a16="http://schemas.microsoft.com/office/drawing/2014/main" id="{1393C3AD-0A3D-40CC-89CD-05D573C714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Title 1">
            <a:extLst>
              <a:ext uri="{FF2B5EF4-FFF2-40B4-BE49-F238E27FC236}">
                <a16:creationId xmlns:a16="http://schemas.microsoft.com/office/drawing/2014/main" id="{AFF4F210-0C79-0243-B4B5-34FC7B87E3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Spring Boot Actuator</a:t>
            </a:r>
          </a:p>
        </p:txBody>
      </p:sp>
      <p:sp>
        <p:nvSpPr>
          <p:cNvPr id="95234" name="Content Placeholder 2">
            <a:extLst>
              <a:ext uri="{FF2B5EF4-FFF2-40B4-BE49-F238E27FC236}">
                <a16:creationId xmlns:a16="http://schemas.microsoft.com/office/drawing/2014/main" id="{BCA02376-0947-33FD-D866-72999A15FE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Exposes REST endpoints that can be consumed to manage and monitor application. </a:t>
            </a:r>
          </a:p>
          <a:p>
            <a:endParaRPr lang="en-US" altLang="en-US" sz="2000"/>
          </a:p>
          <a:p>
            <a:r>
              <a:rPr lang="en-US" altLang="en-US" sz="2000" b="1"/>
              <a:t>Monitor application health</a:t>
            </a:r>
            <a:r>
              <a:rPr lang="en-US" altLang="en-US" sz="2000"/>
              <a:t>, application </a:t>
            </a:r>
            <a:r>
              <a:rPr lang="en-US" altLang="en-US" sz="2000" b="1"/>
              <a:t>bean details</a:t>
            </a:r>
            <a:r>
              <a:rPr lang="en-US" altLang="en-US" sz="2000"/>
              <a:t>, </a:t>
            </a:r>
            <a:r>
              <a:rPr lang="en-US" altLang="en-US" sz="2000" b="1"/>
              <a:t>version details</a:t>
            </a:r>
            <a:r>
              <a:rPr lang="en-US" altLang="en-US" sz="2000"/>
              <a:t>, </a:t>
            </a:r>
            <a:r>
              <a:rPr lang="en-US" altLang="en-US" sz="2000" b="1"/>
              <a:t>thread dumps</a:t>
            </a:r>
            <a:r>
              <a:rPr lang="en-US" altLang="en-US" sz="2000"/>
              <a:t>, </a:t>
            </a:r>
            <a:r>
              <a:rPr lang="en-US" altLang="en-US" sz="2000" b="1"/>
              <a:t>logger details</a:t>
            </a:r>
            <a:r>
              <a:rPr lang="en-US" altLang="en-US" sz="2000"/>
              <a:t> etc</a:t>
            </a:r>
          </a:p>
          <a:p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Can restrict these endpoints to be consumed by authorized users only and Spring provides easy way to secure your REST endpoints. </a:t>
            </a:r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Title 1">
            <a:extLst>
              <a:ext uri="{FF2B5EF4-FFF2-40B4-BE49-F238E27FC236}">
                <a16:creationId xmlns:a16="http://schemas.microsoft.com/office/drawing/2014/main" id="{6899ED5B-D115-07EC-A867-BDB8BB7A4C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actuator </a:t>
            </a:r>
            <a:r>
              <a:rPr lang="en-US" altLang="en-US"/>
              <a:t>End Point</a:t>
            </a:r>
          </a:p>
        </p:txBody>
      </p:sp>
      <p:sp>
        <p:nvSpPr>
          <p:cNvPr id="96258" name="Content Placeholder 2">
            <a:extLst>
              <a:ext uri="{FF2B5EF4-FFF2-40B4-BE49-F238E27FC236}">
                <a16:creationId xmlns:a16="http://schemas.microsoft.com/office/drawing/2014/main" id="{8E496E73-BA72-341C-A14F-F1E4698FAC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/>
              <a:t>actuator</a:t>
            </a:r>
            <a:r>
              <a:rPr lang="en-US" altLang="en-US" sz="2000"/>
              <a:t> </a:t>
            </a:r>
          </a:p>
          <a:p>
            <a:pPr lvl="1"/>
            <a:r>
              <a:rPr lang="en-US" altLang="en-US" sz="2000"/>
              <a:t>It provides a hypermedia-based discovery page for the other endpoints. </a:t>
            </a:r>
          </a:p>
          <a:p>
            <a:pPr lvl="1"/>
            <a:r>
              <a:rPr lang="en-US" altLang="en-US" sz="2000"/>
              <a:t>By default it is sensitive and hence requires username/password for access or may be disabled if web security is not enabled.</a:t>
            </a:r>
          </a:p>
          <a:p>
            <a:r>
              <a:rPr lang="en-US" altLang="en-US" sz="2000" b="1"/>
              <a:t>Beans</a:t>
            </a:r>
          </a:p>
          <a:p>
            <a:pPr lvl="1"/>
            <a:r>
              <a:rPr lang="en-US" altLang="en-US" sz="2000"/>
              <a:t>It displays complete beans configured in the app.</a:t>
            </a:r>
          </a:p>
          <a:p>
            <a:r>
              <a:rPr lang="en-US" altLang="en-US" sz="2000" b="1"/>
              <a:t>Configprops</a:t>
            </a:r>
          </a:p>
          <a:p>
            <a:pPr lvl="1"/>
            <a:r>
              <a:rPr lang="en-US" altLang="en-US" sz="2000"/>
              <a:t>It displays a collated list of all @ConfigurationProperties.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Title 1">
            <a:extLst>
              <a:ext uri="{FF2B5EF4-FFF2-40B4-BE49-F238E27FC236}">
                <a16:creationId xmlns:a16="http://schemas.microsoft.com/office/drawing/2014/main" id="{15C0601D-AA63-9317-C80C-4CFD32CDFF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actuator </a:t>
            </a:r>
            <a:r>
              <a:rPr lang="en-US" altLang="en-US"/>
              <a:t>End Point</a:t>
            </a:r>
          </a:p>
        </p:txBody>
      </p:sp>
      <p:sp>
        <p:nvSpPr>
          <p:cNvPr id="69635" name="Content Placeholder 2">
            <a:extLst>
              <a:ext uri="{FF2B5EF4-FFF2-40B4-BE49-F238E27FC236}">
                <a16:creationId xmlns:a16="http://schemas.microsoft.com/office/drawing/2014/main" id="{68160506-9168-52E5-4FE5-CA899B018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b="1" dirty="0"/>
              <a:t>Health</a:t>
            </a:r>
          </a:p>
          <a:p>
            <a:pPr lvl="2">
              <a:defRPr/>
            </a:pPr>
            <a:r>
              <a:rPr lang="en-US" sz="2000" dirty="0"/>
              <a:t>It shows application health information </a:t>
            </a:r>
          </a:p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 </a:t>
            </a:r>
            <a:r>
              <a:rPr lang="en-US" sz="2000" dirty="0" err="1">
                <a:ea typeface="+mn-ea"/>
                <a:cs typeface="+mn-cs"/>
              </a:rPr>
              <a:t>management.endpoint</a:t>
            </a:r>
            <a:r>
              <a:rPr lang="en-US" sz="2000" dirty="0" err="1"/>
              <a:t>.</a:t>
            </a:r>
            <a:r>
              <a:rPr lang="en-US" sz="2000" dirty="0" err="1">
                <a:ea typeface="+mn-ea"/>
                <a:cs typeface="+mn-cs"/>
              </a:rPr>
              <a:t>health.show</a:t>
            </a:r>
            <a:r>
              <a:rPr lang="en-US" sz="2000" dirty="0">
                <a:ea typeface="+mn-ea"/>
                <a:cs typeface="+mn-cs"/>
              </a:rPr>
              <a:t>-details:=</a:t>
            </a:r>
            <a:r>
              <a:rPr lang="en-US" sz="2000" b="1" dirty="0">
                <a:ea typeface="+mn-ea"/>
                <a:cs typeface="+mn-cs"/>
              </a:rPr>
              <a:t>always</a:t>
            </a:r>
          </a:p>
          <a:p>
            <a:pPr lvl="2">
              <a:buFontTx/>
              <a:buNone/>
              <a:defRPr/>
            </a:pPr>
            <a:endParaRPr lang="en-US" sz="2000" dirty="0"/>
          </a:p>
          <a:p>
            <a:pPr>
              <a:defRPr/>
            </a:pPr>
            <a:r>
              <a:rPr lang="en-US" sz="2000" b="1" dirty="0"/>
              <a:t>Info</a:t>
            </a:r>
          </a:p>
          <a:p>
            <a:pPr lvl="1">
              <a:defRPr/>
            </a:pPr>
            <a:r>
              <a:rPr lang="en-US" sz="2000" dirty="0"/>
              <a:t>It displays arbitrary application info.</a:t>
            </a:r>
          </a:p>
          <a:p>
            <a:pPr>
              <a:defRPr/>
            </a:pPr>
            <a:r>
              <a:rPr lang="en-US" sz="2000" b="1" dirty="0"/>
              <a:t>Loggers</a:t>
            </a:r>
          </a:p>
          <a:p>
            <a:pPr lvl="1">
              <a:defRPr/>
            </a:pPr>
            <a:r>
              <a:rPr lang="en-US" sz="2000" dirty="0"/>
              <a:t>It shows and modifies the configuration of loggers in the application.</a:t>
            </a:r>
          </a:p>
          <a:p>
            <a:pPr>
              <a:defRPr/>
            </a:pPr>
            <a:r>
              <a:rPr lang="en-US" sz="2000" b="1" dirty="0"/>
              <a:t>metrics</a:t>
            </a:r>
            <a:r>
              <a:rPr lang="en-US" sz="2000" dirty="0"/>
              <a:t>:</a:t>
            </a:r>
          </a:p>
          <a:p>
            <a:pPr lvl="1">
              <a:defRPr/>
            </a:pPr>
            <a:r>
              <a:rPr lang="en-US" sz="2000" dirty="0"/>
              <a:t>It shows metrics information for the current application.</a:t>
            </a:r>
          </a:p>
          <a:p>
            <a:pPr>
              <a:defRPr/>
            </a:pPr>
            <a:r>
              <a:rPr lang="en-US" sz="2000" b="1" dirty="0"/>
              <a:t>Mappings</a:t>
            </a:r>
          </a:p>
          <a:p>
            <a:pPr lvl="1">
              <a:defRPr/>
            </a:pPr>
            <a:r>
              <a:rPr lang="en-US" sz="2000" dirty="0"/>
              <a:t>It displays a collated list of all @</a:t>
            </a:r>
            <a:r>
              <a:rPr lang="en-US" sz="2000" dirty="0" err="1"/>
              <a:t>RequestMapping</a:t>
            </a:r>
            <a:r>
              <a:rPr lang="en-US" sz="2000" dirty="0"/>
              <a:t> paths.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Title 1">
            <a:extLst>
              <a:ext uri="{FF2B5EF4-FFF2-40B4-BE49-F238E27FC236}">
                <a16:creationId xmlns:a16="http://schemas.microsoft.com/office/drawing/2014/main" id="{78DCB50D-2920-84D2-C955-67449CB25B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Actuator Endpoints</a:t>
            </a:r>
          </a:p>
        </p:txBody>
      </p:sp>
      <p:sp>
        <p:nvSpPr>
          <p:cNvPr id="98306" name="Content Placeholder 2">
            <a:extLst>
              <a:ext uri="{FF2B5EF4-FFF2-40B4-BE49-F238E27FC236}">
                <a16:creationId xmlns:a16="http://schemas.microsoft.com/office/drawing/2014/main" id="{735D401C-733E-0F5A-0BBF-2C7D51CEF5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health and info can be accessed </a:t>
            </a:r>
          </a:p>
          <a:p>
            <a:pPr lvl="1"/>
            <a:r>
              <a:rPr lang="en-US" altLang="en-US" sz="2000" b="1"/>
              <a:t>Other endpoints are disabled by default </a:t>
            </a:r>
          </a:p>
          <a:p>
            <a:endParaRPr lang="en-US" altLang="en-US" sz="2000" b="1" i="1"/>
          </a:p>
          <a:p>
            <a:r>
              <a:rPr lang="en-US" altLang="en-US" sz="2000" b="1" i="1"/>
              <a:t>management.endpoints.web.exposure.include=*. </a:t>
            </a:r>
          </a:p>
          <a:p>
            <a:pPr lvl="1"/>
            <a:r>
              <a:rPr lang="en-US" altLang="en-US" sz="2000"/>
              <a:t>Will enable all of them</a:t>
            </a:r>
          </a:p>
          <a:p>
            <a:pPr lvl="1"/>
            <a:r>
              <a:rPr lang="en-US" altLang="en-US" sz="2000"/>
              <a:t>Can also list endpoints which should be enabled</a:t>
            </a:r>
          </a:p>
          <a:p>
            <a:pPr lvl="1"/>
            <a:endParaRPr lang="en-US" altLang="en-US" sz="2000"/>
          </a:p>
          <a:p>
            <a:r>
              <a:rPr lang="en-US" altLang="en-US" sz="2000"/>
              <a:t>To expose all enabled endpoints except one (for example </a:t>
            </a:r>
            <a:r>
              <a:rPr lang="en-US" altLang="en-US" sz="2000" i="1"/>
              <a:t>/loggers</a:t>
            </a:r>
            <a:r>
              <a:rPr lang="en-US" altLang="en-US" sz="2000"/>
              <a:t>), we use:</a:t>
            </a:r>
          </a:p>
          <a:p>
            <a:endParaRPr lang="en-US" altLang="en-US" sz="2000"/>
          </a:p>
          <a:p>
            <a:pPr lvl="1">
              <a:buFont typeface="Times New Roman" panose="02020603050405020304" pitchFamily="18" charset="0"/>
              <a:buNone/>
            </a:pPr>
            <a:r>
              <a:rPr lang="en-US" altLang="en-US" sz="2000" b="1"/>
              <a:t>management.endpoints.web.exposure.include=*</a:t>
            </a:r>
          </a:p>
          <a:p>
            <a:pPr lvl="1">
              <a:buFont typeface="Times New Roman" panose="02020603050405020304" pitchFamily="18" charset="0"/>
              <a:buNone/>
            </a:pPr>
            <a:r>
              <a:rPr lang="en-US" altLang="en-US" sz="2000" b="1"/>
              <a:t>management.endpoints.web.exposure.exclude=loggers</a:t>
            </a:r>
          </a:p>
          <a:p>
            <a:pPr lvl="1">
              <a:buFont typeface="Times New Roman" panose="02020603050405020304" pitchFamily="18" charset="0"/>
              <a:buNone/>
            </a:pPr>
            <a:r>
              <a:rPr lang="en-US" altLang="en-US" sz="2000"/>
              <a:t>management.security.enabled=false</a:t>
            </a:r>
          </a:p>
          <a:p>
            <a:pPr lvl="1">
              <a:buFont typeface="Times New Roman" panose="02020603050405020304" pitchFamily="18" charset="0"/>
              <a:buNone/>
            </a:pPr>
            <a:endParaRPr lang="en-US" altLang="en-US" sz="2000" b="1"/>
          </a:p>
          <a:p>
            <a:pPr lvl="1"/>
            <a:endParaRPr lang="en-US" altLang="en-US" sz="2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Title 1">
            <a:extLst>
              <a:ext uri="{FF2B5EF4-FFF2-40B4-BE49-F238E27FC236}">
                <a16:creationId xmlns:a16="http://schemas.microsoft.com/office/drawing/2014/main" id="{52323238-8761-5900-28E4-B051DC7357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Info and Health Endpoint</a:t>
            </a:r>
            <a:endParaRPr lang="en-IN" altLang="en-US"/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884F4CA4-DB32-639B-1B66-FAAF9E8A85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altLang="en-US" sz="2000" dirty="0"/>
              <a:t>Reads the Information from the pom.xml</a:t>
            </a:r>
          </a:p>
          <a:p>
            <a:pPr marL="400050" lvl="1" indent="0">
              <a:buFontTx/>
              <a:buNone/>
              <a:defRPr/>
            </a:pPr>
            <a:r>
              <a:rPr lang="en-IN" dirty="0">
                <a:solidFill>
                  <a:srgbClr val="268BD2"/>
                </a:solidFill>
                <a:latin typeface="Consolas" panose="020B0609020204030204" pitchFamily="49" charset="0"/>
              </a:rPr>
              <a:t>info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400050" lvl="1" indent="0">
              <a:buFontTx/>
              <a:buNone/>
              <a:defRPr/>
            </a:pP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 app:</a:t>
            </a:r>
          </a:p>
          <a:p>
            <a:pPr marL="400050" lvl="1" indent="0">
              <a:buFontTx/>
              <a:buNone/>
              <a:defRPr/>
            </a:pP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   name: ${spring.application.name}</a:t>
            </a:r>
          </a:p>
          <a:p>
            <a:pPr marL="400050" lvl="1" indent="0">
              <a:buFontTx/>
              <a:buNone/>
              <a:defRPr/>
            </a:pP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IN" dirty="0">
                <a:solidFill>
                  <a:srgbClr val="268BD2"/>
                </a:solidFill>
                <a:latin typeface="Consolas" panose="020B0609020204030204" pitchFamily="49" charset="0"/>
              </a:rPr>
              <a:t>build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400050" lvl="1" indent="0">
              <a:buFontTx/>
              <a:buNone/>
              <a:defRPr/>
            </a:pP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dirty="0" err="1">
                <a:solidFill>
                  <a:srgbClr val="268BD2"/>
                </a:solidFill>
                <a:latin typeface="Consolas" panose="020B0609020204030204" pitchFamily="49" charset="0"/>
              </a:rPr>
              <a:t>artificatId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IN" dirty="0">
                <a:solidFill>
                  <a:srgbClr val="2AA198"/>
                </a:solidFill>
                <a:latin typeface="Consolas" panose="020B0609020204030204" pitchFamily="49" charset="0"/>
              </a:rPr>
              <a:t>'@</a:t>
            </a:r>
            <a:r>
              <a:rPr lang="en-IN" dirty="0" err="1">
                <a:solidFill>
                  <a:srgbClr val="2AA198"/>
                </a:solidFill>
                <a:latin typeface="Consolas" panose="020B0609020204030204" pitchFamily="49" charset="0"/>
              </a:rPr>
              <a:t>project.artifact</a:t>
            </a:r>
            <a:r>
              <a:rPr lang="en-IN" dirty="0">
                <a:solidFill>
                  <a:srgbClr val="2AA198"/>
                </a:solidFill>
                <a:latin typeface="Consolas" panose="020B0609020204030204" pitchFamily="49" charset="0"/>
              </a:rPr>
              <a:t>@'</a:t>
            </a:r>
          </a:p>
          <a:p>
            <a:pPr marL="400050" lvl="1" indent="0">
              <a:buFontTx/>
              <a:buNone/>
              <a:defRPr/>
            </a:pP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dirty="0" err="1">
                <a:solidFill>
                  <a:srgbClr val="268BD2"/>
                </a:solidFill>
                <a:latin typeface="Consolas" panose="020B0609020204030204" pitchFamily="49" charset="0"/>
              </a:rPr>
              <a:t>groupId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IN" dirty="0">
                <a:solidFill>
                  <a:srgbClr val="2AA198"/>
                </a:solidFill>
                <a:latin typeface="Consolas" panose="020B0609020204030204" pitchFamily="49" charset="0"/>
              </a:rPr>
              <a:t>'@</a:t>
            </a:r>
            <a:r>
              <a:rPr lang="en-IN" dirty="0" err="1">
                <a:solidFill>
                  <a:srgbClr val="2AA198"/>
                </a:solidFill>
                <a:latin typeface="Consolas" panose="020B0609020204030204" pitchFamily="49" charset="0"/>
              </a:rPr>
              <a:t>project.groupId</a:t>
            </a:r>
            <a:r>
              <a:rPr lang="en-IN" dirty="0">
                <a:solidFill>
                  <a:srgbClr val="2AA198"/>
                </a:solidFill>
                <a:latin typeface="Consolas" panose="020B0609020204030204" pitchFamily="49" charset="0"/>
              </a:rPr>
              <a:t>@'</a:t>
            </a:r>
          </a:p>
          <a:p>
            <a:pPr marL="400050" lvl="1" indent="0">
              <a:buFontTx/>
              <a:buNone/>
              <a:defRPr/>
            </a:pP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dirty="0">
                <a:solidFill>
                  <a:srgbClr val="268BD2"/>
                </a:solidFill>
                <a:latin typeface="Consolas" panose="020B0609020204030204" pitchFamily="49" charset="0"/>
              </a:rPr>
              <a:t>version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IN" dirty="0">
                <a:solidFill>
                  <a:srgbClr val="2AA198"/>
                </a:solidFill>
                <a:latin typeface="Consolas" panose="020B0609020204030204" pitchFamily="49" charset="0"/>
              </a:rPr>
              <a:t>'@</a:t>
            </a:r>
            <a:r>
              <a:rPr lang="en-IN" dirty="0" err="1">
                <a:solidFill>
                  <a:srgbClr val="2AA198"/>
                </a:solidFill>
                <a:latin typeface="Consolas" panose="020B0609020204030204" pitchFamily="49" charset="0"/>
              </a:rPr>
              <a:t>project.version</a:t>
            </a:r>
            <a:r>
              <a:rPr lang="en-IN" dirty="0">
                <a:solidFill>
                  <a:srgbClr val="2AA198"/>
                </a:solidFill>
                <a:latin typeface="Consolas" panose="020B0609020204030204" pitchFamily="49" charset="0"/>
              </a:rPr>
              <a:t>@'</a:t>
            </a:r>
          </a:p>
          <a:p>
            <a:pPr marL="457200" lvl="1" indent="0">
              <a:buFontTx/>
              <a:buNone/>
              <a:defRPr/>
            </a:pPr>
            <a:r>
              <a:rPr lang="en-IN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IN" altLang="en-US" sz="2000" dirty="0">
                <a:solidFill>
                  <a:srgbClr val="268BD2"/>
                </a:solidFill>
                <a:latin typeface="Consolas" panose="020B0609020204030204" pitchFamily="49" charset="0"/>
              </a:rPr>
              <a:t>java</a:t>
            </a:r>
            <a:r>
              <a:rPr lang="en-IN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457200" lvl="1" indent="0">
              <a:buFontTx/>
              <a:buNone/>
              <a:defRPr/>
            </a:pPr>
            <a:r>
              <a:rPr lang="en-IN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IN" altLang="en-US" sz="2000" dirty="0">
                <a:solidFill>
                  <a:srgbClr val="2AA198"/>
                </a:solidFill>
                <a:latin typeface="Consolas" panose="020B0609020204030204" pitchFamily="49" charset="0"/>
              </a:rPr>
              <a:t>version:@</a:t>
            </a:r>
            <a:r>
              <a:rPr lang="en-IN" altLang="en-US" sz="2000" dirty="0" err="1">
                <a:solidFill>
                  <a:srgbClr val="2AA198"/>
                </a:solidFill>
                <a:latin typeface="Consolas" panose="020B0609020204030204" pitchFamily="49" charset="0"/>
              </a:rPr>
              <a:t>java.version</a:t>
            </a:r>
            <a:r>
              <a:rPr lang="en-IN" altLang="en-US" sz="2000" dirty="0">
                <a:solidFill>
                  <a:srgbClr val="2AA198"/>
                </a:solidFill>
                <a:latin typeface="Consolas" panose="020B0609020204030204" pitchFamily="49" charset="0"/>
              </a:rPr>
              <a:t>@</a:t>
            </a:r>
          </a:p>
          <a:p>
            <a:pPr marL="0" indent="0">
              <a:buFontTx/>
              <a:buNone/>
              <a:defRPr/>
            </a:pPr>
            <a:r>
              <a:rPr lang="en-IN" sz="2000" dirty="0">
                <a:solidFill>
                  <a:srgbClr val="268BD2"/>
                </a:solidFill>
                <a:latin typeface="Consolas" panose="020B0609020204030204" pitchFamily="49" charset="0"/>
              </a:rPr>
              <a:t>info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buFontTx/>
              <a:buNone/>
              <a:defRPr/>
            </a:pP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IN" sz="2000" dirty="0">
                <a:solidFill>
                  <a:srgbClr val="268BD2"/>
                </a:solidFill>
                <a:latin typeface="Consolas" panose="020B0609020204030204" pitchFamily="49" charset="0"/>
              </a:rPr>
              <a:t>env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buFontTx/>
              <a:buNone/>
              <a:defRPr/>
            </a:pP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2000" dirty="0">
                <a:solidFill>
                  <a:srgbClr val="268BD2"/>
                </a:solidFill>
                <a:latin typeface="Consolas" panose="020B0609020204030204" pitchFamily="49" charset="0"/>
              </a:rPr>
              <a:t>enabled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IN" sz="2000" dirty="0">
                <a:solidFill>
                  <a:srgbClr val="B58900"/>
                </a:solidFill>
                <a:latin typeface="Consolas" panose="020B0609020204030204" pitchFamily="49" charset="0"/>
              </a:rPr>
              <a:t>true</a:t>
            </a:r>
            <a:endParaRPr lang="en-IN" alt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Title 1">
            <a:extLst>
              <a:ext uri="{FF2B5EF4-FFF2-40B4-BE49-F238E27FC236}">
                <a16:creationId xmlns:a16="http://schemas.microsoft.com/office/drawing/2014/main" id="{B9B96591-3CD6-9574-9ED0-F7D1BADA91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Health Endpoint</a:t>
            </a:r>
            <a:endParaRPr lang="en-IN" altLang="en-US"/>
          </a:p>
        </p:txBody>
      </p:sp>
      <p:sp>
        <p:nvSpPr>
          <p:cNvPr id="100354" name="Content Placeholder 2">
            <a:extLst>
              <a:ext uri="{FF2B5EF4-FFF2-40B4-BE49-F238E27FC236}">
                <a16:creationId xmlns:a16="http://schemas.microsoft.com/office/drawing/2014/main" id="{6E662C0C-5930-91B4-E5C3-74A7789CF4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FontTx/>
              <a:buNone/>
            </a:pPr>
            <a:r>
              <a:rPr lang="en-IN" altLang="en-US" sz="3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0" lvl="1" indent="0">
              <a:buFontTx/>
              <a:buNone/>
            </a:pPr>
            <a:r>
              <a:rPr lang="en-IN" altLang="en-US" sz="3200">
                <a:solidFill>
                  <a:srgbClr val="268BD2"/>
                </a:solidFill>
                <a:latin typeface="Consolas" panose="020B0609020204030204" pitchFamily="49" charset="0"/>
              </a:rPr>
              <a:t>management</a:t>
            </a:r>
            <a:r>
              <a:rPr lang="en-IN" altLang="en-US" sz="32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457200" lvl="1" indent="0">
              <a:buFontTx/>
              <a:buNone/>
            </a:pPr>
            <a:r>
              <a:rPr lang="en-IN" altLang="en-US" sz="320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IN" altLang="en-US" sz="3200">
                <a:solidFill>
                  <a:srgbClr val="268BD2"/>
                </a:solidFill>
                <a:latin typeface="Consolas" panose="020B0609020204030204" pitchFamily="49" charset="0"/>
              </a:rPr>
              <a:t>endpoint</a:t>
            </a:r>
            <a:r>
              <a:rPr lang="en-IN" altLang="en-US" sz="32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457200" lvl="1" indent="0">
              <a:buFontTx/>
              <a:buNone/>
            </a:pPr>
            <a:r>
              <a:rPr lang="en-IN" altLang="en-US" sz="32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altLang="en-US" sz="3200">
                <a:solidFill>
                  <a:srgbClr val="268BD2"/>
                </a:solidFill>
                <a:latin typeface="Consolas" panose="020B0609020204030204" pitchFamily="49" charset="0"/>
              </a:rPr>
              <a:t>health</a:t>
            </a:r>
            <a:r>
              <a:rPr lang="en-IN" altLang="en-US" sz="32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457200" lvl="1" indent="0">
              <a:buFontTx/>
              <a:buNone/>
            </a:pPr>
            <a:r>
              <a:rPr lang="en-IN" altLang="en-US" sz="320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IN" altLang="en-US" sz="3200">
                <a:solidFill>
                  <a:srgbClr val="268BD2"/>
                </a:solidFill>
                <a:latin typeface="Consolas" panose="020B0609020204030204" pitchFamily="49" charset="0"/>
              </a:rPr>
              <a:t>show-details</a:t>
            </a:r>
            <a:r>
              <a:rPr lang="en-IN" altLang="en-US" sz="320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IN" altLang="en-US" sz="3200">
                <a:solidFill>
                  <a:srgbClr val="2AA198"/>
                </a:solidFill>
                <a:latin typeface="Consolas" panose="020B0609020204030204" pitchFamily="49" charset="0"/>
              </a:rPr>
              <a:t>always</a:t>
            </a:r>
            <a:endParaRPr lang="en-I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Title 1">
            <a:extLst>
              <a:ext uri="{FF2B5EF4-FFF2-40B4-BE49-F238E27FC236}">
                <a16:creationId xmlns:a16="http://schemas.microsoft.com/office/drawing/2014/main" id="{D2288C95-C413-5357-A708-7C6190AE60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Logger Endpoint</a:t>
            </a:r>
            <a:endParaRPr lang="en-IN" altLang="en-US"/>
          </a:p>
        </p:txBody>
      </p:sp>
      <p:sp>
        <p:nvSpPr>
          <p:cNvPr id="101378" name="Content Placeholder 2">
            <a:extLst>
              <a:ext uri="{FF2B5EF4-FFF2-40B4-BE49-F238E27FC236}">
                <a16:creationId xmlns:a16="http://schemas.microsoft.com/office/drawing/2014/main" id="{697A2E67-C6C8-041E-AC10-5753E04164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sz="2000">
                <a:hlinkClick r:id="rId2"/>
              </a:rPr>
              <a:t>http://localhost:8787/actuator/metrics</a:t>
            </a:r>
            <a:endParaRPr lang="en-IN" altLang="en-US" sz="2000"/>
          </a:p>
          <a:p>
            <a:endParaRPr lang="en-IN" altLang="en-US" sz="2000"/>
          </a:p>
          <a:p>
            <a:r>
              <a:rPr lang="en-IN" altLang="en-US" sz="2000">
                <a:hlinkClick r:id="rId3"/>
              </a:rPr>
              <a:t>http://localhost:8787/actuator/loggers</a:t>
            </a:r>
            <a:endParaRPr lang="en-IN" altLang="en-US" sz="2000"/>
          </a:p>
          <a:p>
            <a:endParaRPr lang="en-IN" altLang="en-US" sz="2000"/>
          </a:p>
          <a:p>
            <a:r>
              <a:rPr lang="en-IN" altLang="en-US" sz="2000"/>
              <a:t>To Change the Log level make a </a:t>
            </a:r>
            <a:r>
              <a:rPr lang="en-IN" altLang="en-US" sz="2000" b="1">
                <a:solidFill>
                  <a:srgbClr val="FF0000"/>
                </a:solidFill>
              </a:rPr>
              <a:t>post</a:t>
            </a:r>
            <a:r>
              <a:rPr lang="en-IN" altLang="en-US" sz="2000"/>
              <a:t> request</a:t>
            </a:r>
          </a:p>
          <a:p>
            <a:endParaRPr lang="en-IN" altLang="en-US" sz="2000">
              <a:solidFill>
                <a:srgbClr val="505050"/>
              </a:solidFill>
              <a:latin typeface="OpenSans"/>
              <a:hlinkClick r:id="rId4"/>
            </a:endParaRPr>
          </a:p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505050"/>
                </a:solidFill>
                <a:latin typeface="OpenSans"/>
                <a:hlinkClick r:id="rId4"/>
              </a:rPr>
              <a:t>http://localhost:8787/actuator/loggers/org.springframework.boot.SpringApplication</a:t>
            </a:r>
            <a:endParaRPr lang="en-IN" altLang="en-US" sz="2000">
              <a:solidFill>
                <a:srgbClr val="505050"/>
              </a:solidFill>
              <a:latin typeface="OpenSans"/>
            </a:endParaRPr>
          </a:p>
          <a:p>
            <a:pPr marL="457200" lvl="1" indent="0">
              <a:buFontTx/>
              <a:buNone/>
            </a:pPr>
            <a:endParaRPr lang="en-IN" altLang="en-US" sz="2000">
              <a:solidFill>
                <a:srgbClr val="505050"/>
              </a:solidFill>
              <a:latin typeface="OpenSans"/>
            </a:endParaRPr>
          </a:p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  <a:r>
              <a:rPr lang="en-IN" altLang="en-US" sz="2000">
                <a:solidFill>
                  <a:srgbClr val="A31515"/>
                </a:solidFill>
                <a:latin typeface="Consolas" panose="020B0609020204030204" pitchFamily="49" charset="0"/>
              </a:rPr>
              <a:t>"configuredLevel"</a:t>
            </a:r>
            <a:r>
              <a:rPr lang="en-IN" altLang="en-US" sz="200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IN" altLang="en-US" sz="2000">
                <a:solidFill>
                  <a:srgbClr val="0451A5"/>
                </a:solidFill>
                <a:latin typeface="Consolas" panose="020B0609020204030204" pitchFamily="49" charset="0"/>
              </a:rPr>
              <a:t>"trace“ </a:t>
            </a:r>
            <a:r>
              <a:rPr lang="en-IN" altLang="en-US" sz="20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en-US" sz="2000">
                <a:solidFill>
                  <a:srgbClr val="000000"/>
                </a:solidFill>
                <a:latin typeface="Consolas" panose="020B0609020204030204" pitchFamily="49" charset="0"/>
              </a:rPr>
              <a:t>To reset the logging level back to the original value</a:t>
            </a:r>
          </a:p>
          <a:p>
            <a:pPr marL="457200" lvl="1" indent="0">
              <a:buFontTx/>
              <a:buNone/>
            </a:pPr>
            <a:endParaRPr lang="en-US" altLang="en-US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Consolas" panose="020B0609020204030204" pitchFamily="49" charset="0"/>
              </a:rPr>
              <a:t>{  "configuredLevel": null }</a:t>
            </a:r>
            <a:endParaRPr lang="en-IN" altLang="en-US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altLang="en-US" sz="2000"/>
          </a:p>
          <a:p>
            <a:endParaRPr lang="en-IN" altLang="en-US" sz="2000"/>
          </a:p>
          <a:p>
            <a:endParaRPr lang="en-IN" altLang="en-US" sz="2000"/>
          </a:p>
          <a:p>
            <a:endParaRPr lang="en-IN" altLang="en-US" sz="2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Title 1">
            <a:extLst>
              <a:ext uri="{FF2B5EF4-FFF2-40B4-BE49-F238E27FC236}">
                <a16:creationId xmlns:a16="http://schemas.microsoft.com/office/drawing/2014/main" id="{ABCCEA08-5A3D-CB51-8C99-C4C048B360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Shut Down End Point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015CA-FFB5-5FB6-3FA8-31E7C9834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Endpoint is used to shut down the Spring Boot application</a:t>
            </a:r>
          </a:p>
          <a:p>
            <a:pPr>
              <a:defRPr/>
            </a:pPr>
            <a:r>
              <a:rPr lang="en-US" sz="2000" dirty="0"/>
              <a:t>Need to enable by adding a property in the </a:t>
            </a:r>
            <a:r>
              <a:rPr lang="en-US" sz="2000" dirty="0" err="1"/>
              <a:t>application.yml</a:t>
            </a:r>
            <a:endParaRPr lang="en-US" sz="2000" dirty="0"/>
          </a:p>
          <a:p>
            <a:pPr>
              <a:defRPr/>
            </a:pPr>
            <a:r>
              <a:rPr lang="en-US" sz="2000" dirty="0"/>
              <a:t>Done By Making a  POST call.</a:t>
            </a:r>
          </a:p>
          <a:p>
            <a:pPr lvl="1">
              <a:defRPr/>
            </a:pPr>
            <a:endParaRPr lang="en-IN" sz="2000" b="1" dirty="0">
              <a:solidFill>
                <a:srgbClr val="00B0F0"/>
              </a:solidFill>
              <a:hlinkClick r:id="rId3"/>
            </a:endParaRPr>
          </a:p>
          <a:p>
            <a:pPr lvl="1">
              <a:defRPr/>
            </a:pPr>
            <a:r>
              <a:rPr lang="en-IN" sz="2000" b="1" dirty="0">
                <a:solidFill>
                  <a:srgbClr val="00B0F0"/>
                </a:solidFill>
                <a:hlinkClick r:id="rId3"/>
              </a:rPr>
              <a:t>http://localhost:7070/actuator/shutdown</a:t>
            </a:r>
            <a:endParaRPr lang="en-IN" sz="2000" b="1" dirty="0">
              <a:solidFill>
                <a:srgbClr val="00B0F0"/>
              </a:solidFill>
            </a:endParaRPr>
          </a:p>
          <a:p>
            <a:pPr lvl="1">
              <a:defRPr/>
            </a:pPr>
            <a:endParaRPr lang="en-US" sz="2000" b="1" dirty="0">
              <a:solidFill>
                <a:srgbClr val="00B0F0"/>
              </a:solidFill>
            </a:endParaRPr>
          </a:p>
          <a:p>
            <a:pPr marL="457200" lvl="1" indent="0">
              <a:buFontTx/>
              <a:buNone/>
              <a:defRPr/>
            </a:pPr>
            <a:endParaRPr lang="en-IN" sz="2000" dirty="0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  <a:defRPr/>
            </a:pPr>
            <a:r>
              <a:rPr lang="en-IN" sz="2000" dirty="0">
                <a:latin typeface="Consolas" panose="020B0609020204030204" pitchFamily="49" charset="0"/>
              </a:rPr>
              <a:t>management:</a:t>
            </a:r>
          </a:p>
          <a:p>
            <a:pPr marL="457200" lvl="1" indent="0">
              <a:buFontTx/>
              <a:buNone/>
              <a:defRPr/>
            </a:pP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endpoint:</a:t>
            </a:r>
          </a:p>
          <a:p>
            <a:pPr marL="457200" lvl="1" indent="0">
              <a:buFontTx/>
              <a:buNone/>
              <a:defRPr/>
            </a:pP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shutdown:</a:t>
            </a:r>
          </a:p>
          <a:p>
            <a:pPr marL="457200" lvl="1" indent="0">
              <a:buFontTx/>
              <a:buNone/>
              <a:defRPr/>
            </a:pP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enabled: true</a:t>
            </a:r>
            <a:endParaRPr lang="en-IN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Title 1">
            <a:extLst>
              <a:ext uri="{FF2B5EF4-FFF2-40B4-BE49-F238E27FC236}">
                <a16:creationId xmlns:a16="http://schemas.microsoft.com/office/drawing/2014/main" id="{B40476B8-7B2B-67AB-D692-3CFAFC8487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Extending  Info End Point</a:t>
            </a:r>
            <a:endParaRPr lang="en-IN" altLang="en-US"/>
          </a:p>
        </p:txBody>
      </p:sp>
      <p:sp>
        <p:nvSpPr>
          <p:cNvPr id="104450" name="Content Placeholder 2">
            <a:extLst>
              <a:ext uri="{FF2B5EF4-FFF2-40B4-BE49-F238E27FC236}">
                <a16:creationId xmlns:a16="http://schemas.microsoft.com/office/drawing/2014/main" id="{DFB1F783-3395-B541-1903-2574A3F1E8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868363"/>
            <a:ext cx="8229600" cy="5257800"/>
          </a:xfrm>
        </p:spPr>
        <p:txBody>
          <a:bodyPr/>
          <a:lstStyle/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646464"/>
                </a:solidFill>
                <a:latin typeface="Consolas" panose="020B0609020204030204" pitchFamily="49" charset="0"/>
              </a:rPr>
              <a:t>@Component</a:t>
            </a:r>
          </a:p>
          <a:p>
            <a:pPr marL="457200" lvl="1" indent="0">
              <a:buFontTx/>
              <a:buNone/>
            </a:pPr>
            <a:r>
              <a:rPr lang="en-US" altLang="en-US" sz="1800" b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800" b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 CustomInfoEndPoint </a:t>
            </a:r>
            <a:r>
              <a:rPr lang="en-US" altLang="en-US" sz="1800" b="1">
                <a:solidFill>
                  <a:srgbClr val="7F0055"/>
                </a:solidFill>
                <a:latin typeface="Consolas" panose="020B0609020204030204" pitchFamily="49" charset="0"/>
              </a:rPr>
              <a:t>implements</a:t>
            </a:r>
            <a:r>
              <a:rPr lang="en-US" alt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 InfoContributor {</a:t>
            </a:r>
          </a:p>
          <a:p>
            <a:pPr marL="457200" lvl="1" indent="0">
              <a:buFontTx/>
              <a:buNone/>
            </a:pPr>
            <a:endParaRPr lang="en-IN" altLang="en-US" sz="1800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altLang="en-US" sz="1800">
                <a:solidFill>
                  <a:srgbClr val="646464"/>
                </a:solidFill>
                <a:latin typeface="Consolas" panose="020B0609020204030204" pitchFamily="49" charset="0"/>
              </a:rPr>
              <a:t>@Autowired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altLang="en-US" sz="1800" b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en-IN" alt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 ConfigurableApplicationContext </a:t>
            </a:r>
            <a:r>
              <a:rPr lang="en-IN" altLang="en-US" sz="1800" b="1">
                <a:solidFill>
                  <a:srgbClr val="0000C0"/>
                </a:solidFill>
                <a:latin typeface="Consolas" panose="020B0609020204030204" pitchFamily="49" charset="0"/>
              </a:rPr>
              <a:t>ctx</a:t>
            </a:r>
            <a:r>
              <a:rPr lang="en-IN" alt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FontTx/>
              <a:buNone/>
            </a:pPr>
            <a:endParaRPr lang="en-IN" altLang="en-US" sz="1800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altLang="en-US" sz="1800">
                <a:solidFill>
                  <a:srgbClr val="646464"/>
                </a:solidFill>
                <a:latin typeface="Consolas" panose="020B0609020204030204" pitchFamily="49" charset="0"/>
              </a:rPr>
              <a:t>@Override</a:t>
            </a:r>
          </a:p>
          <a:p>
            <a:pPr marL="457200" lvl="1" indent="0"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800" b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800" b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 contribute(Info.Builder </a:t>
            </a:r>
            <a:r>
              <a:rPr lang="en-US" altLang="en-US" sz="1800" b="1">
                <a:solidFill>
                  <a:srgbClr val="6A3E3E"/>
                </a:solidFill>
                <a:latin typeface="Consolas" panose="020B0609020204030204" pitchFamily="49" charset="0"/>
              </a:rPr>
              <a:t>builder</a:t>
            </a:r>
            <a:r>
              <a:rPr lang="en-US" alt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457200" lvl="1" indent="0"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    Map&lt;String, Object&gt; </a:t>
            </a:r>
            <a:r>
              <a:rPr lang="en-US" altLang="en-US" sz="1800">
                <a:solidFill>
                  <a:srgbClr val="6A3E3E"/>
                </a:solidFill>
                <a:latin typeface="Consolas" panose="020B0609020204030204" pitchFamily="49" charset="0"/>
              </a:rPr>
              <a:t>details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1800" b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 HashMap&lt;&gt;();</a:t>
            </a:r>
          </a:p>
          <a:p>
            <a:pPr marL="457200" lvl="1" indent="0"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sz="1800">
                <a:solidFill>
                  <a:srgbClr val="6A3E3E"/>
                </a:solidFill>
                <a:latin typeface="Consolas" panose="020B0609020204030204" pitchFamily="49" charset="0"/>
              </a:rPr>
              <a:t>details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.put(</a:t>
            </a:r>
            <a:r>
              <a:rPr lang="en-US" altLang="en-US" sz="1800">
                <a:solidFill>
                  <a:srgbClr val="2A00FF"/>
                </a:solidFill>
                <a:latin typeface="Consolas" panose="020B0609020204030204" pitchFamily="49" charset="0"/>
              </a:rPr>
              <a:t>"bean-definition-count"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1800">
                <a:solidFill>
                  <a:srgbClr val="0000C0"/>
                </a:solidFill>
                <a:latin typeface="Consolas" panose="020B0609020204030204" pitchFamily="49" charset="0"/>
              </a:rPr>
              <a:t>ctx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.getBeanDefinitionCount());</a:t>
            </a:r>
          </a:p>
          <a:p>
            <a:pPr marL="457200" lvl="1" indent="0"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sz="1800">
                <a:solidFill>
                  <a:srgbClr val="6A3E3E"/>
                </a:solidFill>
                <a:latin typeface="Consolas" panose="020B0609020204030204" pitchFamily="49" charset="0"/>
              </a:rPr>
              <a:t>details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.put(</a:t>
            </a:r>
            <a:r>
              <a:rPr lang="en-US" altLang="en-US" sz="1800">
                <a:solidFill>
                  <a:srgbClr val="2A00FF"/>
                </a:solidFill>
                <a:latin typeface="Consolas" panose="020B0609020204030204" pitchFamily="49" charset="0"/>
              </a:rPr>
              <a:t>"startup-date"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1800">
                <a:solidFill>
                  <a:srgbClr val="0000C0"/>
                </a:solidFill>
                <a:latin typeface="Consolas" panose="020B0609020204030204" pitchFamily="49" charset="0"/>
              </a:rPr>
              <a:t>ctx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.getStartupDate());</a:t>
            </a:r>
          </a:p>
          <a:p>
            <a:pPr marL="457200" lvl="1" indent="0">
              <a:buFontTx/>
              <a:buNone/>
            </a:pPr>
            <a:endParaRPr lang="en-IN" altLang="en-US" sz="1800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altLang="en-US" sz="1800">
                <a:solidFill>
                  <a:srgbClr val="6A3E3E"/>
                </a:solidFill>
                <a:latin typeface="Consolas" panose="020B0609020204030204" pitchFamily="49" charset="0"/>
              </a:rPr>
              <a:t>builder</a:t>
            </a: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.withDetail(</a:t>
            </a:r>
            <a:r>
              <a:rPr lang="en-IN" altLang="en-US" sz="1800">
                <a:solidFill>
                  <a:srgbClr val="2A00FF"/>
                </a:solidFill>
                <a:latin typeface="Consolas" panose="020B0609020204030204" pitchFamily="49" charset="0"/>
              </a:rPr>
              <a:t>"context"</a:t>
            </a: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altLang="en-US" sz="1800">
                <a:solidFill>
                  <a:srgbClr val="6A3E3E"/>
                </a:solidFill>
                <a:latin typeface="Consolas" panose="020B0609020204030204" pitchFamily="49" charset="0"/>
              </a:rPr>
              <a:t>details</a:t>
            </a: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457200" lvl="1" indent="0">
              <a:buFontTx/>
              <a:buNone/>
            </a:pPr>
            <a:endParaRPr lang="en-IN" altLang="en-US" sz="1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Title 1">
            <a:extLst>
              <a:ext uri="{FF2B5EF4-FFF2-40B4-BE49-F238E27FC236}">
                <a16:creationId xmlns:a16="http://schemas.microsoft.com/office/drawing/2014/main" id="{B9617330-AB6D-0D19-BC87-54C08E27B7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274638"/>
          </a:xfrm>
        </p:spPr>
        <p:txBody>
          <a:bodyPr/>
          <a:lstStyle/>
          <a:p>
            <a:r>
              <a:rPr lang="en-US" altLang="en-US"/>
              <a:t>Extending Health Point</a:t>
            </a:r>
            <a:endParaRPr lang="en-IN" altLang="en-US"/>
          </a:p>
        </p:txBody>
      </p:sp>
      <p:sp>
        <p:nvSpPr>
          <p:cNvPr id="105474" name="Content Placeholder 2">
            <a:extLst>
              <a:ext uri="{FF2B5EF4-FFF2-40B4-BE49-F238E27FC236}">
                <a16:creationId xmlns:a16="http://schemas.microsoft.com/office/drawing/2014/main" id="{0364A852-5535-1D1E-FF57-7993BD6DA7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646464"/>
                </a:solidFill>
              </a:rPr>
              <a:t>@Component</a:t>
            </a:r>
          </a:p>
          <a:p>
            <a:pPr marL="457200" lvl="1" indent="0">
              <a:buFontTx/>
              <a:buNone/>
            </a:pPr>
            <a:r>
              <a:rPr lang="en-US" altLang="en-US" sz="1800" b="1">
                <a:solidFill>
                  <a:srgbClr val="7F0055"/>
                </a:solidFill>
              </a:rPr>
              <a:t>public</a:t>
            </a:r>
            <a:r>
              <a:rPr lang="en-US" altLang="en-US" sz="1800" b="1">
                <a:solidFill>
                  <a:srgbClr val="000000"/>
                </a:solidFill>
              </a:rPr>
              <a:t> </a:t>
            </a:r>
            <a:r>
              <a:rPr lang="en-US" altLang="en-US" sz="1800" b="1">
                <a:solidFill>
                  <a:srgbClr val="7F0055"/>
                </a:solidFill>
              </a:rPr>
              <a:t>class</a:t>
            </a:r>
            <a:r>
              <a:rPr lang="en-US" altLang="en-US" sz="1800" b="1">
                <a:solidFill>
                  <a:srgbClr val="000000"/>
                </a:solidFill>
              </a:rPr>
              <a:t> CustomHealthInfoEndPoint </a:t>
            </a:r>
            <a:r>
              <a:rPr lang="en-US" altLang="en-US" sz="1800" b="1">
                <a:solidFill>
                  <a:srgbClr val="7F0055"/>
                </a:solidFill>
              </a:rPr>
              <a:t>implements</a:t>
            </a:r>
            <a:r>
              <a:rPr lang="en-US" altLang="en-US" sz="1800" b="1">
                <a:solidFill>
                  <a:srgbClr val="000000"/>
                </a:solidFill>
              </a:rPr>
              <a:t> HealthIndicator {</a:t>
            </a:r>
          </a:p>
          <a:p>
            <a:pPr marL="457200" lvl="1" indent="0">
              <a:buFontTx/>
              <a:buNone/>
            </a:pPr>
            <a:endParaRPr lang="en-IN" altLang="en-US" sz="1800"/>
          </a:p>
          <a:p>
            <a:pPr marL="457200" lvl="1" indent="0">
              <a:buFontTx/>
              <a:buNone/>
            </a:pPr>
            <a:r>
              <a:rPr lang="en-IN" altLang="en-US" sz="1800" b="1">
                <a:solidFill>
                  <a:srgbClr val="7F0055"/>
                </a:solidFill>
              </a:rPr>
              <a:t>private</a:t>
            </a:r>
            <a:r>
              <a:rPr lang="en-IN" altLang="en-US" sz="1800" b="1">
                <a:solidFill>
                  <a:srgbClr val="000000"/>
                </a:solidFill>
              </a:rPr>
              <a:t> </a:t>
            </a:r>
            <a:r>
              <a:rPr lang="en-IN" altLang="en-US" sz="1800" b="1">
                <a:solidFill>
                  <a:srgbClr val="7F0055"/>
                </a:solidFill>
              </a:rPr>
              <a:t>final</a:t>
            </a:r>
            <a:r>
              <a:rPr lang="en-IN" altLang="en-US" sz="1800" b="1">
                <a:solidFill>
                  <a:srgbClr val="000000"/>
                </a:solidFill>
              </a:rPr>
              <a:t> OrderRepository </a:t>
            </a:r>
            <a:r>
              <a:rPr lang="en-IN" altLang="en-US" sz="1800" b="1">
                <a:solidFill>
                  <a:srgbClr val="0000C0"/>
                </a:solidFill>
              </a:rPr>
              <a:t>repository</a:t>
            </a:r>
            <a:r>
              <a:rPr lang="en-IN" altLang="en-US" sz="1800" b="1">
                <a:solidFill>
                  <a:srgbClr val="000000"/>
                </a:solidFill>
              </a:rPr>
              <a:t>;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</a:rPr>
              <a:t> 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646464"/>
                </a:solidFill>
              </a:rPr>
              <a:t>@Override</a:t>
            </a:r>
          </a:p>
          <a:p>
            <a:pPr marL="457200" lvl="1" indent="0">
              <a:buFontTx/>
              <a:buNone/>
            </a:pPr>
            <a:r>
              <a:rPr lang="en-IN" altLang="en-US" sz="1800" b="1">
                <a:solidFill>
                  <a:srgbClr val="7F0055"/>
                </a:solidFill>
              </a:rPr>
              <a:t>public</a:t>
            </a:r>
            <a:r>
              <a:rPr lang="en-IN" altLang="en-US" sz="1800" b="1">
                <a:solidFill>
                  <a:srgbClr val="000000"/>
                </a:solidFill>
              </a:rPr>
              <a:t> Health health() {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</a:rPr>
              <a:t> </a:t>
            </a:r>
            <a:r>
              <a:rPr lang="en-IN" altLang="en-US" sz="1800" b="1">
                <a:solidFill>
                  <a:srgbClr val="7F0055"/>
                </a:solidFill>
              </a:rPr>
              <a:t>try</a:t>
            </a:r>
            <a:r>
              <a:rPr lang="en-IN" altLang="en-US" sz="1800" b="1">
                <a:solidFill>
                  <a:srgbClr val="000000"/>
                </a:solidFill>
              </a:rPr>
              <a:t> {</a:t>
            </a:r>
          </a:p>
          <a:p>
            <a:pPr marL="457200" lvl="1" indent="0"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             </a:t>
            </a:r>
            <a:r>
              <a:rPr lang="en-US" altLang="en-US" sz="1800" b="1">
                <a:solidFill>
                  <a:srgbClr val="7F0055"/>
                </a:solidFill>
              </a:rPr>
              <a:t>long</a:t>
            </a:r>
            <a:r>
              <a:rPr lang="en-US" altLang="en-US" sz="1800" b="1">
                <a:solidFill>
                  <a:srgbClr val="000000"/>
                </a:solidFill>
              </a:rPr>
              <a:t> </a:t>
            </a:r>
            <a:r>
              <a:rPr lang="en-US" altLang="en-US" sz="1800" b="1" u="sng">
                <a:solidFill>
                  <a:srgbClr val="6A3E3E"/>
                </a:solidFill>
              </a:rPr>
              <a:t>number</a:t>
            </a:r>
            <a:r>
              <a:rPr lang="en-US" altLang="en-US" sz="1800" b="1" u="sng">
                <a:solidFill>
                  <a:srgbClr val="000000"/>
                </a:solidFill>
              </a:rPr>
              <a:t> = </a:t>
            </a:r>
            <a:r>
              <a:rPr lang="en-US" altLang="en-US" sz="1800" b="1" u="sng">
                <a:solidFill>
                  <a:srgbClr val="7F0055"/>
                </a:solidFill>
              </a:rPr>
              <a:t>this</a:t>
            </a:r>
            <a:r>
              <a:rPr lang="en-US" altLang="en-US" sz="1800" b="1" u="sng">
                <a:solidFill>
                  <a:srgbClr val="000000"/>
                </a:solidFill>
              </a:rPr>
              <a:t>.</a:t>
            </a:r>
            <a:r>
              <a:rPr lang="en-US" altLang="en-US" sz="1800" b="1" u="sng">
                <a:solidFill>
                  <a:srgbClr val="0000C0"/>
                </a:solidFill>
              </a:rPr>
              <a:t>repository</a:t>
            </a:r>
            <a:r>
              <a:rPr lang="en-US" altLang="en-US" sz="1800" b="1" u="sng">
                <a:solidFill>
                  <a:srgbClr val="000000"/>
                </a:solidFill>
              </a:rPr>
              <a:t>.count();</a:t>
            </a:r>
            <a:r>
              <a:rPr lang="en-US" altLang="en-US" sz="1800">
                <a:solidFill>
                  <a:srgbClr val="000000"/>
                </a:solidFill>
              </a:rPr>
              <a:t> </a:t>
            </a:r>
            <a:r>
              <a:rPr lang="en-US" altLang="en-US" sz="1800" b="1">
                <a:solidFill>
                  <a:srgbClr val="7F0055"/>
                </a:solidFill>
              </a:rPr>
              <a:t>return</a:t>
            </a:r>
            <a:r>
              <a:rPr lang="en-US" altLang="en-US" sz="1800" b="1">
                <a:solidFill>
                  <a:srgbClr val="000000"/>
                </a:solidFill>
              </a:rPr>
              <a:t> Health.</a:t>
            </a:r>
            <a:r>
              <a:rPr lang="en-US" altLang="en-US" sz="1800" b="1" i="1">
                <a:solidFill>
                  <a:srgbClr val="000000"/>
                </a:solidFill>
              </a:rPr>
              <a:t>status(</a:t>
            </a:r>
            <a:r>
              <a:rPr lang="en-US" altLang="en-US" sz="1800" b="1" i="1">
                <a:solidFill>
                  <a:srgbClr val="2A00FF"/>
                </a:solidFill>
              </a:rPr>
              <a:t>"UP"</a:t>
            </a:r>
            <a:r>
              <a:rPr lang="en-US" altLang="en-US" sz="1800" b="1" i="1">
                <a:solidFill>
                  <a:srgbClr val="000000"/>
                </a:solidFill>
              </a:rPr>
              <a:t>).withDetail(</a:t>
            </a:r>
            <a:r>
              <a:rPr lang="en-US" altLang="en-US" sz="1800" b="1" i="1">
                <a:solidFill>
                  <a:srgbClr val="2A00FF"/>
                </a:solidFill>
              </a:rPr>
              <a:t>"DB Service"</a:t>
            </a:r>
            <a:r>
              <a:rPr lang="en-US" altLang="en-US" sz="1800" b="1" i="1">
                <a:solidFill>
                  <a:srgbClr val="000000"/>
                </a:solidFill>
              </a:rPr>
              <a:t>, </a:t>
            </a:r>
            <a:r>
              <a:rPr lang="en-US" altLang="en-US" sz="1800" b="1" i="1">
                <a:solidFill>
                  <a:srgbClr val="2A00FF"/>
                </a:solidFill>
              </a:rPr>
              <a:t>"DB service is UP"</a:t>
            </a:r>
            <a:r>
              <a:rPr lang="en-US" altLang="en-US" sz="1800" b="1" i="1">
                <a:solidFill>
                  <a:srgbClr val="000000"/>
                </a:solidFill>
              </a:rPr>
              <a:t>).build();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</a:rPr>
              <a:t>        } </a:t>
            </a:r>
            <a:r>
              <a:rPr lang="en-IN" altLang="en-US" sz="1800" b="1">
                <a:solidFill>
                  <a:srgbClr val="7F0055"/>
                </a:solidFill>
              </a:rPr>
              <a:t>catch</a:t>
            </a:r>
            <a:r>
              <a:rPr lang="en-IN" altLang="en-US" sz="1800" b="1">
                <a:solidFill>
                  <a:srgbClr val="000000"/>
                </a:solidFill>
              </a:rPr>
              <a:t> (Exception </a:t>
            </a:r>
            <a:r>
              <a:rPr lang="en-IN" altLang="en-US" sz="1800" b="1">
                <a:solidFill>
                  <a:srgbClr val="6A3E3E"/>
                </a:solidFill>
              </a:rPr>
              <a:t>exception</a:t>
            </a:r>
            <a:r>
              <a:rPr lang="en-IN" altLang="en-US" sz="1800" b="1">
                <a:solidFill>
                  <a:srgbClr val="000000"/>
                </a:solidFill>
              </a:rPr>
              <a:t>){</a:t>
            </a:r>
          </a:p>
          <a:p>
            <a:pPr marL="457200" lvl="1" indent="0"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            </a:t>
            </a:r>
            <a:r>
              <a:rPr lang="en-US" altLang="en-US" sz="1800" b="1">
                <a:solidFill>
                  <a:srgbClr val="7F0055"/>
                </a:solidFill>
              </a:rPr>
              <a:t>return</a:t>
            </a:r>
            <a:r>
              <a:rPr lang="en-US" altLang="en-US" sz="1800" b="1">
                <a:solidFill>
                  <a:srgbClr val="000000"/>
                </a:solidFill>
              </a:rPr>
              <a:t> Health.</a:t>
            </a:r>
            <a:r>
              <a:rPr lang="en-US" altLang="en-US" sz="1800" b="1" i="1">
                <a:solidFill>
                  <a:srgbClr val="000000"/>
                </a:solidFill>
              </a:rPr>
              <a:t>outOfService().withDetail(</a:t>
            </a:r>
            <a:r>
              <a:rPr lang="en-US" altLang="en-US" sz="1800" b="1" i="1">
                <a:solidFill>
                  <a:srgbClr val="2A00FF"/>
                </a:solidFill>
              </a:rPr>
              <a:t>"DB Service"</a:t>
            </a:r>
            <a:r>
              <a:rPr lang="en-US" altLang="en-US" sz="1800" b="1" i="1">
                <a:solidFill>
                  <a:srgbClr val="000000"/>
                </a:solidFill>
              </a:rPr>
              <a:t>, </a:t>
            </a:r>
            <a:r>
              <a:rPr lang="en-US" altLang="en-US" sz="1800" b="1" i="1">
                <a:solidFill>
                  <a:srgbClr val="2A00FF"/>
                </a:solidFill>
              </a:rPr>
              <a:t>"DB service is DOWN"</a:t>
            </a:r>
            <a:r>
              <a:rPr lang="en-US" altLang="en-US" sz="1800" b="1" i="1">
                <a:solidFill>
                  <a:srgbClr val="000000"/>
                </a:solidFill>
              </a:rPr>
              <a:t>).build();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</a:rPr>
              <a:t>        }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</a:rPr>
              <a:t>    }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</a:rPr>
              <a:t>}</a:t>
            </a:r>
          </a:p>
          <a:p>
            <a:pPr marL="457200" lvl="1" indent="0">
              <a:buFontTx/>
              <a:buNone/>
            </a:pPr>
            <a:endParaRPr lang="en-IN" altLang="en-US" sz="1800"/>
          </a:p>
          <a:p>
            <a:pPr marL="457200" lvl="1" indent="0">
              <a:buFontTx/>
              <a:buNone/>
            </a:pPr>
            <a:endParaRPr lang="en-IN" altLang="en-US" sz="1800"/>
          </a:p>
          <a:p>
            <a:pPr marL="457200" lvl="1" indent="0">
              <a:buFontTx/>
              <a:buNone/>
            </a:pPr>
            <a:endParaRPr lang="en-IN" alt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es">
  <a:themeElements>
    <a:clrScheme name="vees 14">
      <a:dk1>
        <a:srgbClr val="000000"/>
      </a:dk1>
      <a:lt1>
        <a:srgbClr val="FF99CC"/>
      </a:lt1>
      <a:dk2>
        <a:srgbClr val="1C1C1C"/>
      </a:dk2>
      <a:lt2>
        <a:srgbClr val="4D4D4D"/>
      </a:lt2>
      <a:accent1>
        <a:srgbClr val="FF0000"/>
      </a:accent1>
      <a:accent2>
        <a:srgbClr val="FF99CC"/>
      </a:accent2>
      <a:accent3>
        <a:srgbClr val="FFCAE2"/>
      </a:accent3>
      <a:accent4>
        <a:srgbClr val="000000"/>
      </a:accent4>
      <a:accent5>
        <a:srgbClr val="FFAAAA"/>
      </a:accent5>
      <a:accent6>
        <a:srgbClr val="E78AB9"/>
      </a:accent6>
      <a:hlink>
        <a:srgbClr val="9933FF"/>
      </a:hlink>
      <a:folHlink>
        <a:srgbClr val="44C63A"/>
      </a:folHlink>
    </a:clrScheme>
    <a:fontScheme name="ve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vees 1">
        <a:dk1>
          <a:srgbClr val="C0C0C0"/>
        </a:dk1>
        <a:lt1>
          <a:srgbClr val="FFFFFF"/>
        </a:lt1>
        <a:dk2>
          <a:srgbClr val="000099"/>
        </a:dk2>
        <a:lt2>
          <a:srgbClr val="CCECFF"/>
        </a:lt2>
        <a:accent1>
          <a:srgbClr val="FF3399"/>
        </a:accent1>
        <a:accent2>
          <a:srgbClr val="99CCFF"/>
        </a:accent2>
        <a:accent3>
          <a:srgbClr val="AAAACA"/>
        </a:accent3>
        <a:accent4>
          <a:srgbClr val="DADADA"/>
        </a:accent4>
        <a:accent5>
          <a:srgbClr val="FFADCA"/>
        </a:accent5>
        <a:accent6>
          <a:srgbClr val="8AB9E7"/>
        </a:accent6>
        <a:hlink>
          <a:srgbClr val="FF505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2">
        <a:dk1>
          <a:srgbClr val="000000"/>
        </a:dk1>
        <a:lt1>
          <a:srgbClr val="99CCFF"/>
        </a:lt1>
        <a:dk2>
          <a:srgbClr val="1C1C1C"/>
        </a:dk2>
        <a:lt2>
          <a:srgbClr val="4D4D4D"/>
        </a:lt2>
        <a:accent1>
          <a:srgbClr val="CC0066"/>
        </a:accent1>
        <a:accent2>
          <a:srgbClr val="3366FF"/>
        </a:accent2>
        <a:accent3>
          <a:srgbClr val="CAE2FF"/>
        </a:accent3>
        <a:accent4>
          <a:srgbClr val="000000"/>
        </a:accent4>
        <a:accent5>
          <a:srgbClr val="E2AAB8"/>
        </a:accent5>
        <a:accent6>
          <a:srgbClr val="2D5CE7"/>
        </a:accent6>
        <a:hlink>
          <a:srgbClr val="FF00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3">
        <a:dk1>
          <a:srgbClr val="C0C0C0"/>
        </a:dk1>
        <a:lt1>
          <a:srgbClr val="FFFFFF"/>
        </a:lt1>
        <a:dk2>
          <a:srgbClr val="800000"/>
        </a:dk2>
        <a:lt2>
          <a:srgbClr val="FFCC99"/>
        </a:lt2>
        <a:accent1>
          <a:srgbClr val="FF9900"/>
        </a:accent1>
        <a:accent2>
          <a:srgbClr val="CC00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B90000"/>
        </a:accent6>
        <a:hlink>
          <a:srgbClr val="FF33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4">
        <a:dk1>
          <a:srgbClr val="000000"/>
        </a:dk1>
        <a:lt1>
          <a:srgbClr val="FF9966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6699"/>
        </a:accent2>
        <a:accent3>
          <a:srgbClr val="FFCAB8"/>
        </a:accent3>
        <a:accent4>
          <a:srgbClr val="000000"/>
        </a:accent4>
        <a:accent5>
          <a:srgbClr val="FFAAAA"/>
        </a:accent5>
        <a:accent6>
          <a:srgbClr val="E75C8A"/>
        </a:accent6>
        <a:hlink>
          <a:srgbClr val="CC00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5">
        <a:dk1>
          <a:srgbClr val="C0C0C0"/>
        </a:dk1>
        <a:lt1>
          <a:srgbClr val="FFFFFF"/>
        </a:lt1>
        <a:dk2>
          <a:srgbClr val="008000"/>
        </a:dk2>
        <a:lt2>
          <a:srgbClr val="CCECFF"/>
        </a:lt2>
        <a:accent1>
          <a:srgbClr val="0066FF"/>
        </a:accent1>
        <a:accent2>
          <a:srgbClr val="00FF00"/>
        </a:accent2>
        <a:accent3>
          <a:srgbClr val="AAC0AA"/>
        </a:accent3>
        <a:accent4>
          <a:srgbClr val="DADADA"/>
        </a:accent4>
        <a:accent5>
          <a:srgbClr val="AAB8FF"/>
        </a:accent5>
        <a:accent6>
          <a:srgbClr val="00E700"/>
        </a:accent6>
        <a:hlink>
          <a:srgbClr val="A29E00"/>
        </a:hlink>
        <a:folHlink>
          <a:srgbClr val="EA8B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6">
        <a:dk1>
          <a:srgbClr val="000000"/>
        </a:dk1>
        <a:lt1>
          <a:srgbClr val="97E183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99FF99"/>
        </a:accent2>
        <a:accent3>
          <a:srgbClr val="C9EEC1"/>
        </a:accent3>
        <a:accent4>
          <a:srgbClr val="000000"/>
        </a:accent4>
        <a:accent5>
          <a:srgbClr val="AAB8FF"/>
        </a:accent5>
        <a:accent6>
          <a:srgbClr val="8AE78A"/>
        </a:accent6>
        <a:hlink>
          <a:srgbClr val="CC9900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7">
        <a:dk1>
          <a:srgbClr val="C0C0C0"/>
        </a:dk1>
        <a:lt1>
          <a:srgbClr val="FFFFFF"/>
        </a:lt1>
        <a:dk2>
          <a:srgbClr val="008080"/>
        </a:dk2>
        <a:lt2>
          <a:srgbClr val="CCECFF"/>
        </a:lt2>
        <a:accent1>
          <a:srgbClr val="29A329"/>
        </a:accent1>
        <a:accent2>
          <a:srgbClr val="00FFFF"/>
        </a:accent2>
        <a:accent3>
          <a:srgbClr val="AAC0C0"/>
        </a:accent3>
        <a:accent4>
          <a:srgbClr val="DADADA"/>
        </a:accent4>
        <a:accent5>
          <a:srgbClr val="ACCEAC"/>
        </a:accent5>
        <a:accent6>
          <a:srgbClr val="00E7E7"/>
        </a:accent6>
        <a:hlink>
          <a:srgbClr val="3B6AFF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8">
        <a:dk1>
          <a:srgbClr val="000000"/>
        </a:dk1>
        <a:lt1>
          <a:srgbClr val="64F0BE"/>
        </a:lt1>
        <a:dk2>
          <a:srgbClr val="1C1C1C"/>
        </a:dk2>
        <a:lt2>
          <a:srgbClr val="4D4D4D"/>
        </a:lt2>
        <a:accent1>
          <a:srgbClr val="008000"/>
        </a:accent1>
        <a:accent2>
          <a:srgbClr val="00FFFF"/>
        </a:accent2>
        <a:accent3>
          <a:srgbClr val="B8F6DB"/>
        </a:accent3>
        <a:accent4>
          <a:srgbClr val="000000"/>
        </a:accent4>
        <a:accent5>
          <a:srgbClr val="AAC0AA"/>
        </a:accent5>
        <a:accent6>
          <a:srgbClr val="00E7E7"/>
        </a:accent6>
        <a:hlink>
          <a:srgbClr val="3366FF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9">
        <a:dk1>
          <a:srgbClr val="C0C0C0"/>
        </a:dk1>
        <a:lt1>
          <a:srgbClr val="FFFFFF"/>
        </a:lt1>
        <a:dk2>
          <a:srgbClr val="CC9900"/>
        </a:dk2>
        <a:lt2>
          <a:srgbClr val="FFFFCC"/>
        </a:lt2>
        <a:accent1>
          <a:srgbClr val="FF3300"/>
        </a:accent1>
        <a:accent2>
          <a:srgbClr val="FFCC66"/>
        </a:accent2>
        <a:accent3>
          <a:srgbClr val="E2CAAA"/>
        </a:accent3>
        <a:accent4>
          <a:srgbClr val="DADADA"/>
        </a:accent4>
        <a:accent5>
          <a:srgbClr val="FFADAA"/>
        </a:accent5>
        <a:accent6>
          <a:srgbClr val="E7B95C"/>
        </a:accent6>
        <a:hlink>
          <a:srgbClr val="008080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0">
        <a:dk1>
          <a:srgbClr val="000000"/>
        </a:dk1>
        <a:lt1>
          <a:srgbClr val="EFF274"/>
        </a:lt1>
        <a:dk2>
          <a:srgbClr val="1C1C1C"/>
        </a:dk2>
        <a:lt2>
          <a:srgbClr val="4D4D4D"/>
        </a:lt2>
        <a:accent1>
          <a:srgbClr val="9966FF"/>
        </a:accent1>
        <a:accent2>
          <a:srgbClr val="FFFFCC"/>
        </a:accent2>
        <a:accent3>
          <a:srgbClr val="F6F7BC"/>
        </a:accent3>
        <a:accent4>
          <a:srgbClr val="000000"/>
        </a:accent4>
        <a:accent5>
          <a:srgbClr val="CAB8FF"/>
        </a:accent5>
        <a:accent6>
          <a:srgbClr val="E7E7B9"/>
        </a:accent6>
        <a:hlink>
          <a:srgbClr val="6666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1">
        <a:dk1>
          <a:srgbClr val="C0C0C0"/>
        </a:dk1>
        <a:lt1>
          <a:srgbClr val="FFFFFF"/>
        </a:lt1>
        <a:dk2>
          <a:srgbClr val="6600CC"/>
        </a:dk2>
        <a:lt2>
          <a:srgbClr val="CCCCFF"/>
        </a:lt2>
        <a:accent1>
          <a:srgbClr val="D60093"/>
        </a:accent1>
        <a:accent2>
          <a:srgbClr val="9999FF"/>
        </a:accent2>
        <a:accent3>
          <a:srgbClr val="B8AAE2"/>
        </a:accent3>
        <a:accent4>
          <a:srgbClr val="DADADA"/>
        </a:accent4>
        <a:accent5>
          <a:srgbClr val="E8AAC8"/>
        </a:accent5>
        <a:accent6>
          <a:srgbClr val="8A8AE7"/>
        </a:accent6>
        <a:hlink>
          <a:srgbClr val="008000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2">
        <a:dk1>
          <a:srgbClr val="000000"/>
        </a:dk1>
        <a:lt1>
          <a:srgbClr val="CC99FF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CCCCFF"/>
        </a:accent2>
        <a:accent3>
          <a:srgbClr val="E2CAFF"/>
        </a:accent3>
        <a:accent4>
          <a:srgbClr val="000000"/>
        </a:accent4>
        <a:accent5>
          <a:srgbClr val="AAB8FF"/>
        </a:accent5>
        <a:accent6>
          <a:srgbClr val="B9B9E7"/>
        </a:accent6>
        <a:hlink>
          <a:srgbClr val="FF0066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3">
        <a:dk1>
          <a:srgbClr val="C0C0C0"/>
        </a:dk1>
        <a:lt1>
          <a:srgbClr val="FFFFFF"/>
        </a:lt1>
        <a:dk2>
          <a:srgbClr val="CC0066"/>
        </a:dk2>
        <a:lt2>
          <a:srgbClr val="FFCCCC"/>
        </a:lt2>
        <a:accent1>
          <a:srgbClr val="993366"/>
        </a:accent1>
        <a:accent2>
          <a:srgbClr val="FF9999"/>
        </a:accent2>
        <a:accent3>
          <a:srgbClr val="E2AAB8"/>
        </a:accent3>
        <a:accent4>
          <a:srgbClr val="DADADA"/>
        </a:accent4>
        <a:accent5>
          <a:srgbClr val="CAADB8"/>
        </a:accent5>
        <a:accent6>
          <a:srgbClr val="E78A8A"/>
        </a:accent6>
        <a:hlink>
          <a:srgbClr val="009999"/>
        </a:hlink>
        <a:folHlink>
          <a:srgbClr val="FF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4">
        <a:dk1>
          <a:srgbClr val="000000"/>
        </a:dk1>
        <a:lt1>
          <a:srgbClr val="FF99CC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99CC"/>
        </a:accent2>
        <a:accent3>
          <a:srgbClr val="FFCAE2"/>
        </a:accent3>
        <a:accent4>
          <a:srgbClr val="000000"/>
        </a:accent4>
        <a:accent5>
          <a:srgbClr val="FFAAAA"/>
        </a:accent5>
        <a:accent6>
          <a:srgbClr val="E78AB9"/>
        </a:accent6>
        <a:hlink>
          <a:srgbClr val="9933FF"/>
        </a:hlink>
        <a:folHlink>
          <a:srgbClr val="44C63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5">
        <a:dk1>
          <a:srgbClr val="C0C0C0"/>
        </a:dk1>
        <a:lt1>
          <a:srgbClr val="FFFFFF"/>
        </a:lt1>
        <a:dk2>
          <a:srgbClr val="000000"/>
        </a:dk2>
        <a:lt2>
          <a:srgbClr val="DDDDDD"/>
        </a:lt2>
        <a:accent1>
          <a:srgbClr val="4D4D4D"/>
        </a:accent1>
        <a:accent2>
          <a:srgbClr val="C0C0C0"/>
        </a:accent2>
        <a:accent3>
          <a:srgbClr val="AAAAAA"/>
        </a:accent3>
        <a:accent4>
          <a:srgbClr val="DADADA"/>
        </a:accent4>
        <a:accent5>
          <a:srgbClr val="B2B2B2"/>
        </a:accent5>
        <a:accent6>
          <a:srgbClr val="AEAEAE"/>
        </a:accent6>
        <a:hlink>
          <a:srgbClr val="777777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6">
        <a:dk1>
          <a:srgbClr val="000000"/>
        </a:dk1>
        <a:lt1>
          <a:srgbClr val="FFFFFF"/>
        </a:lt1>
        <a:dk2>
          <a:srgbClr val="1C1C1C"/>
        </a:dk2>
        <a:lt2>
          <a:srgbClr val="4D4D4D"/>
        </a:lt2>
        <a:accent1>
          <a:srgbClr val="4D4D4D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B2B2B2"/>
        </a:accent5>
        <a:accent6>
          <a:srgbClr val="C8C8C8"/>
        </a:accent6>
        <a:hlink>
          <a:srgbClr val="808080"/>
        </a:hlink>
        <a:folHlink>
          <a:srgbClr val="F8F8F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40142</TotalTime>
  <Words>1978</Words>
  <Application>Microsoft Macintosh PowerPoint</Application>
  <PresentationFormat>On-screen Show (4:3)</PresentationFormat>
  <Paragraphs>358</Paragraphs>
  <Slides>33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  <vt:variant>
        <vt:lpstr>Custom Shows</vt:lpstr>
      </vt:variant>
      <vt:variant>
        <vt:i4>1</vt:i4>
      </vt:variant>
    </vt:vector>
  </HeadingPairs>
  <TitlesOfParts>
    <vt:vector size="39" baseType="lpstr">
      <vt:lpstr>Arial</vt:lpstr>
      <vt:lpstr>Consolas</vt:lpstr>
      <vt:lpstr>OpenSans</vt:lpstr>
      <vt:lpstr>Times New Roman</vt:lpstr>
      <vt:lpstr>vees</vt:lpstr>
      <vt:lpstr>Spring Security</vt:lpstr>
      <vt:lpstr>Spring Security</vt:lpstr>
      <vt:lpstr>Authentication &amp; Authorization</vt:lpstr>
      <vt:lpstr>Add Spring Security Module</vt:lpstr>
      <vt:lpstr>Spring Security Architecture</vt:lpstr>
      <vt:lpstr>Spring Security Architecture</vt:lpstr>
      <vt:lpstr>Authorizations</vt:lpstr>
      <vt:lpstr>BCryptPasswordEncoder</vt:lpstr>
      <vt:lpstr>HttpSecurity </vt:lpstr>
      <vt:lpstr>Security Filter chain</vt:lpstr>
      <vt:lpstr>Customizing</vt:lpstr>
      <vt:lpstr>Security Config</vt:lpstr>
      <vt:lpstr>Security Config</vt:lpstr>
      <vt:lpstr>Security Config-H2 Specific</vt:lpstr>
      <vt:lpstr>Capture Authentication Details</vt:lpstr>
      <vt:lpstr>Method Level Annotation-SPEL </vt:lpstr>
      <vt:lpstr>CSRF</vt:lpstr>
      <vt:lpstr>Entity and Repository</vt:lpstr>
      <vt:lpstr>User Details Service</vt:lpstr>
      <vt:lpstr>User Details Service</vt:lpstr>
      <vt:lpstr>User Details Service</vt:lpstr>
      <vt:lpstr>User Details Service</vt:lpstr>
      <vt:lpstr>Spring actuator</vt:lpstr>
      <vt:lpstr>Spring Boot Actuator</vt:lpstr>
      <vt:lpstr>actuator End Point</vt:lpstr>
      <vt:lpstr>actuator End Point</vt:lpstr>
      <vt:lpstr>Actuator Endpoints</vt:lpstr>
      <vt:lpstr>Info and Health Endpoint</vt:lpstr>
      <vt:lpstr>Health Endpoint</vt:lpstr>
      <vt:lpstr>Logger Endpoint</vt:lpstr>
      <vt:lpstr>Shut Down End Point</vt:lpstr>
      <vt:lpstr>Extending  Info End Point</vt:lpstr>
      <vt:lpstr>Extending Health Point</vt:lpstr>
      <vt:lpstr>Sapient</vt:lpstr>
    </vt:vector>
  </TitlesOfParts>
  <Company>Meta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</dc:title>
  <dc:subject>Spring Core Package</dc:subject>
  <dc:creator>K.Srivatsan</dc:creator>
  <cp:lastModifiedBy>Srivatsan Krishnamachari</cp:lastModifiedBy>
  <cp:revision>1815</cp:revision>
  <dcterms:created xsi:type="dcterms:W3CDTF">1998-10-26T19:35:11Z</dcterms:created>
  <dcterms:modified xsi:type="dcterms:W3CDTF">2026-05-21T10:17:41Z</dcterms:modified>
</cp:coreProperties>
</file>